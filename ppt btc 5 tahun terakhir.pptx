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Inter Bold" charset="1" panose="020B0802030000000004"/>
      <p:regular r:id="rId15"/>
    </p:embeddedFont>
    <p:embeddedFont>
      <p:font typeface="Open Sans Bold" charset="1" panose="020B0806030504020204"/>
      <p:regular r:id="rId16"/>
    </p:embeddedFont>
    <p:embeddedFont>
      <p:font typeface="Poppins Bold" charset="1" panose="00000800000000000000"/>
      <p:regular r:id="rId17"/>
    </p:embeddedFont>
    <p:embeddedFont>
      <p:font typeface="Bree Serif" charset="1" panose="02000503040000020004"/>
      <p:regular r:id="rId18"/>
    </p:embeddedFont>
    <p:embeddedFont>
      <p:font typeface="Canva Sans Bold" charset="1" panose="020B08030305010401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jpe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2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33B5C"/>
        </a:solidFill>
      </p:bgPr>
    </p:bg>
    <p:spTree>
      <p:nvGrpSpPr>
        <p:cNvPr id="1" name=""/>
        <p:cNvGrpSpPr/>
        <p:nvPr/>
      </p:nvGrpSpPr>
      <p:grpSpPr>
        <a:xfrm>
          <a:off x="0" y="0"/>
          <a:ext cx="0" cy="0"/>
          <a:chOff x="0" y="0"/>
          <a:chExt cx="0" cy="0"/>
        </a:xfrm>
      </p:grpSpPr>
      <p:sp>
        <p:nvSpPr>
          <p:cNvPr name="Freeform 2" id="2"/>
          <p:cNvSpPr/>
          <p:nvPr/>
        </p:nvSpPr>
        <p:spPr>
          <a:xfrm flipH="false" flipV="false" rot="-5714398">
            <a:off x="3708813" y="-1995692"/>
            <a:ext cx="10232519" cy="19339812"/>
          </a:xfrm>
          <a:custGeom>
            <a:avLst/>
            <a:gdLst/>
            <a:ahLst/>
            <a:cxnLst/>
            <a:rect r="r" b="b" t="t" l="l"/>
            <a:pathLst>
              <a:path h="19339812" w="10232519">
                <a:moveTo>
                  <a:pt x="0" y="0"/>
                </a:moveTo>
                <a:lnTo>
                  <a:pt x="10232518" y="0"/>
                </a:lnTo>
                <a:lnTo>
                  <a:pt x="10232518" y="19339812"/>
                </a:lnTo>
                <a:lnTo>
                  <a:pt x="0" y="19339812"/>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471837" y="-218466"/>
            <a:ext cx="19231674" cy="5738943"/>
            <a:chOff x="0" y="0"/>
            <a:chExt cx="5065132" cy="1511491"/>
          </a:xfrm>
        </p:grpSpPr>
        <p:sp>
          <p:nvSpPr>
            <p:cNvPr name="Freeform 4" id="4"/>
            <p:cNvSpPr/>
            <p:nvPr/>
          </p:nvSpPr>
          <p:spPr>
            <a:xfrm flipH="false" flipV="false" rot="0">
              <a:off x="0" y="0"/>
              <a:ext cx="5065132" cy="1511491"/>
            </a:xfrm>
            <a:custGeom>
              <a:avLst/>
              <a:gdLst/>
              <a:ahLst/>
              <a:cxnLst/>
              <a:rect r="r" b="b" t="t" l="l"/>
              <a:pathLst>
                <a:path h="1511491" w="5065132">
                  <a:moveTo>
                    <a:pt x="0" y="0"/>
                  </a:moveTo>
                  <a:lnTo>
                    <a:pt x="5065132" y="0"/>
                  </a:lnTo>
                  <a:lnTo>
                    <a:pt x="5065132" y="1511491"/>
                  </a:lnTo>
                  <a:lnTo>
                    <a:pt x="0" y="1511491"/>
                  </a:lnTo>
                  <a:close/>
                </a:path>
              </a:pathLst>
            </a:custGeom>
            <a:solidFill>
              <a:srgbClr val="337B92"/>
            </a:solidFill>
            <a:ln cap="sq">
              <a:noFill/>
              <a:prstDash val="solid"/>
              <a:miter/>
            </a:ln>
          </p:spPr>
        </p:sp>
        <p:sp>
          <p:nvSpPr>
            <p:cNvPr name="TextBox 5" id="5"/>
            <p:cNvSpPr txBox="true"/>
            <p:nvPr/>
          </p:nvSpPr>
          <p:spPr>
            <a:xfrm>
              <a:off x="0" y="-38100"/>
              <a:ext cx="5065132" cy="1549591"/>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738480" y="3757086"/>
            <a:ext cx="9833302" cy="4712776"/>
            <a:chOff x="0" y="0"/>
            <a:chExt cx="1693977" cy="811867"/>
          </a:xfrm>
        </p:grpSpPr>
        <p:sp>
          <p:nvSpPr>
            <p:cNvPr name="Freeform 7" id="7"/>
            <p:cNvSpPr/>
            <p:nvPr/>
          </p:nvSpPr>
          <p:spPr>
            <a:xfrm flipH="false" flipV="false" rot="0">
              <a:off x="0" y="0"/>
              <a:ext cx="1693977" cy="811867"/>
            </a:xfrm>
            <a:custGeom>
              <a:avLst/>
              <a:gdLst/>
              <a:ahLst/>
              <a:cxnLst/>
              <a:rect r="r" b="b" t="t" l="l"/>
              <a:pathLst>
                <a:path h="811867" w="1693977">
                  <a:moveTo>
                    <a:pt x="0" y="0"/>
                  </a:moveTo>
                  <a:lnTo>
                    <a:pt x="1693977" y="0"/>
                  </a:lnTo>
                  <a:lnTo>
                    <a:pt x="1693977" y="811867"/>
                  </a:lnTo>
                  <a:lnTo>
                    <a:pt x="0" y="811867"/>
                  </a:lnTo>
                  <a:close/>
                </a:path>
              </a:pathLst>
            </a:custGeom>
            <a:blipFill>
              <a:blip r:embed="rId4"/>
              <a:stretch>
                <a:fillRect l="0" t="-19507" r="0" b="-19507"/>
              </a:stretch>
            </a:blipFill>
          </p:spPr>
        </p:sp>
      </p:grpSp>
      <p:sp>
        <p:nvSpPr>
          <p:cNvPr name="AutoShape 8" id="8"/>
          <p:cNvSpPr/>
          <p:nvPr/>
        </p:nvSpPr>
        <p:spPr>
          <a:xfrm>
            <a:off x="999498" y="2919733"/>
            <a:ext cx="16259802" cy="0"/>
          </a:xfrm>
          <a:prstGeom prst="line">
            <a:avLst/>
          </a:prstGeom>
          <a:ln cap="flat" w="38100">
            <a:solidFill>
              <a:srgbClr val="FFFFFF"/>
            </a:solidFill>
            <a:prstDash val="solid"/>
            <a:headEnd type="none" len="sm" w="sm"/>
            <a:tailEnd type="none" len="sm" w="sm"/>
          </a:ln>
        </p:spPr>
      </p:sp>
      <p:sp>
        <p:nvSpPr>
          <p:cNvPr name="Freeform 9" id="9"/>
          <p:cNvSpPr/>
          <p:nvPr/>
        </p:nvSpPr>
        <p:spPr>
          <a:xfrm flipH="false" flipV="false" rot="0">
            <a:off x="10947753" y="3463077"/>
            <a:ext cx="3793097" cy="4114800"/>
          </a:xfrm>
          <a:custGeom>
            <a:avLst/>
            <a:gdLst/>
            <a:ahLst/>
            <a:cxnLst/>
            <a:rect r="r" b="b" t="t" l="l"/>
            <a:pathLst>
              <a:path h="4114800" w="3793097">
                <a:moveTo>
                  <a:pt x="0" y="0"/>
                </a:moveTo>
                <a:lnTo>
                  <a:pt x="3793097" y="0"/>
                </a:lnTo>
                <a:lnTo>
                  <a:pt x="3793097"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3083954" y="312170"/>
            <a:ext cx="11351766" cy="10753218"/>
          </a:xfrm>
          <a:custGeom>
            <a:avLst/>
            <a:gdLst/>
            <a:ahLst/>
            <a:cxnLst/>
            <a:rect r="r" b="b" t="t" l="l"/>
            <a:pathLst>
              <a:path h="10753218" w="11351766">
                <a:moveTo>
                  <a:pt x="0" y="0"/>
                </a:moveTo>
                <a:lnTo>
                  <a:pt x="11351766" y="0"/>
                </a:lnTo>
                <a:lnTo>
                  <a:pt x="11351766" y="10753218"/>
                </a:lnTo>
                <a:lnTo>
                  <a:pt x="0" y="1075321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1" id="11"/>
          <p:cNvSpPr txBox="true"/>
          <p:nvPr/>
        </p:nvSpPr>
        <p:spPr>
          <a:xfrm rot="0">
            <a:off x="1028700" y="540770"/>
            <a:ext cx="8855004" cy="1621209"/>
          </a:xfrm>
          <a:prstGeom prst="rect">
            <a:avLst/>
          </a:prstGeom>
        </p:spPr>
        <p:txBody>
          <a:bodyPr anchor="t" rtlCol="false" tIns="0" lIns="0" bIns="0" rIns="0">
            <a:spAutoFit/>
          </a:bodyPr>
          <a:lstStyle/>
          <a:p>
            <a:pPr algn="l">
              <a:lnSpc>
                <a:spcPts val="6027"/>
              </a:lnSpc>
            </a:pPr>
            <a:r>
              <a:rPr lang="en-US" sz="7175" spc="-444" b="true">
                <a:solidFill>
                  <a:srgbClr val="FFFFFF"/>
                </a:solidFill>
                <a:latin typeface="Inter Bold"/>
                <a:ea typeface="Inter Bold"/>
                <a:cs typeface="Inter Bold"/>
                <a:sym typeface="Inter Bold"/>
              </a:rPr>
              <a:t>Analisis BTC 5 Tahun </a:t>
            </a:r>
          </a:p>
          <a:p>
            <a:pPr algn="l" marL="0" indent="0" lvl="0">
              <a:lnSpc>
                <a:spcPts val="6027"/>
              </a:lnSpc>
              <a:spcBef>
                <a:spcPct val="0"/>
              </a:spcBef>
            </a:pPr>
            <a:r>
              <a:rPr lang="en-US" b="true" sz="7175" spc="-444">
                <a:solidFill>
                  <a:srgbClr val="FFFFFF"/>
                </a:solidFill>
                <a:latin typeface="Inter Bold"/>
                <a:ea typeface="Inter Bold"/>
                <a:cs typeface="Inter Bold"/>
                <a:sym typeface="Inter Bold"/>
              </a:rPr>
              <a:t>Terakhir</a:t>
            </a:r>
          </a:p>
        </p:txBody>
      </p:sp>
      <p:sp>
        <p:nvSpPr>
          <p:cNvPr name="TextBox 12" id="12"/>
          <p:cNvSpPr txBox="true"/>
          <p:nvPr/>
        </p:nvSpPr>
        <p:spPr>
          <a:xfrm rot="0">
            <a:off x="13602266" y="2623351"/>
            <a:ext cx="3657034" cy="621340"/>
          </a:xfrm>
          <a:prstGeom prst="rect">
            <a:avLst/>
          </a:prstGeom>
        </p:spPr>
        <p:txBody>
          <a:bodyPr anchor="t" rtlCol="false" tIns="0" lIns="0" bIns="0" rIns="0">
            <a:spAutoFit/>
          </a:bodyPr>
          <a:lstStyle/>
          <a:p>
            <a:pPr algn="r">
              <a:lnSpc>
                <a:spcPts val="2452"/>
              </a:lnSpc>
            </a:pPr>
            <a:r>
              <a:rPr lang="en-US" b="true" sz="2291" spc="-114">
                <a:solidFill>
                  <a:srgbClr val="FFFFFF"/>
                </a:solidFill>
                <a:latin typeface="Inter Bold"/>
                <a:ea typeface="Inter Bold"/>
                <a:cs typeface="Inter Bold"/>
                <a:sym typeface="Inter Bold"/>
              </a:rPr>
              <a:t>By</a:t>
            </a:r>
          </a:p>
          <a:p>
            <a:pPr algn="r" marL="0" indent="0" lvl="0">
              <a:lnSpc>
                <a:spcPts val="2452"/>
              </a:lnSpc>
            </a:pPr>
            <a:r>
              <a:rPr lang="en-US" b="true" sz="2291" spc="-114">
                <a:solidFill>
                  <a:srgbClr val="FFFFFF"/>
                </a:solidFill>
                <a:latin typeface="Inter Bold"/>
                <a:ea typeface="Inter Bold"/>
                <a:cs typeface="Inter Bold"/>
                <a:sym typeface="Inter Bold"/>
              </a:rPr>
              <a:t> Fadli Zaenal Aripin</a:t>
            </a:r>
          </a:p>
        </p:txBody>
      </p:sp>
      <p:sp>
        <p:nvSpPr>
          <p:cNvPr name="TextBox 13" id="13"/>
          <p:cNvSpPr txBox="true"/>
          <p:nvPr/>
        </p:nvSpPr>
        <p:spPr>
          <a:xfrm rot="0">
            <a:off x="1028700" y="2266938"/>
            <a:ext cx="3863949" cy="481161"/>
          </a:xfrm>
          <a:prstGeom prst="rect">
            <a:avLst/>
          </a:prstGeom>
        </p:spPr>
        <p:txBody>
          <a:bodyPr anchor="t" rtlCol="false" tIns="0" lIns="0" bIns="0" rIns="0">
            <a:spAutoFit/>
          </a:bodyPr>
          <a:lstStyle/>
          <a:p>
            <a:pPr algn="ctr">
              <a:lnSpc>
                <a:spcPts val="3985"/>
              </a:lnSpc>
            </a:pPr>
            <a:r>
              <a:rPr lang="en-US" sz="2847" b="true">
                <a:solidFill>
                  <a:srgbClr val="FFFFFF"/>
                </a:solidFill>
                <a:latin typeface="Open Sans Bold"/>
                <a:ea typeface="Open Sans Bold"/>
                <a:cs typeface="Open Sans Bold"/>
                <a:sym typeface="Open Sans Bold"/>
              </a:rPr>
              <a:t>project akhir magang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33B5C"/>
        </a:solidFill>
      </p:bgPr>
    </p:bg>
    <p:spTree>
      <p:nvGrpSpPr>
        <p:cNvPr id="1" name=""/>
        <p:cNvGrpSpPr/>
        <p:nvPr/>
      </p:nvGrpSpPr>
      <p:grpSpPr>
        <a:xfrm>
          <a:off x="0" y="0"/>
          <a:ext cx="0" cy="0"/>
          <a:chOff x="0" y="0"/>
          <a:chExt cx="0" cy="0"/>
        </a:xfrm>
      </p:grpSpPr>
      <p:sp>
        <p:nvSpPr>
          <p:cNvPr name="Freeform 2" id="2"/>
          <p:cNvSpPr/>
          <p:nvPr/>
        </p:nvSpPr>
        <p:spPr>
          <a:xfrm flipH="false" flipV="false" rot="-5714398">
            <a:off x="3708813" y="-6834801"/>
            <a:ext cx="10232519" cy="19339812"/>
          </a:xfrm>
          <a:custGeom>
            <a:avLst/>
            <a:gdLst/>
            <a:ahLst/>
            <a:cxnLst/>
            <a:rect r="r" b="b" t="t" l="l"/>
            <a:pathLst>
              <a:path h="19339812" w="10232519">
                <a:moveTo>
                  <a:pt x="0" y="0"/>
                </a:moveTo>
                <a:lnTo>
                  <a:pt x="10232518" y="0"/>
                </a:lnTo>
                <a:lnTo>
                  <a:pt x="10232518" y="19339812"/>
                </a:lnTo>
                <a:lnTo>
                  <a:pt x="0" y="19339812"/>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9419491" y="4875768"/>
            <a:ext cx="7839809" cy="2679882"/>
            <a:chOff x="0" y="0"/>
            <a:chExt cx="2064806" cy="705812"/>
          </a:xfrm>
        </p:grpSpPr>
        <p:sp>
          <p:nvSpPr>
            <p:cNvPr name="Freeform 4" id="4"/>
            <p:cNvSpPr/>
            <p:nvPr/>
          </p:nvSpPr>
          <p:spPr>
            <a:xfrm flipH="false" flipV="false" rot="0">
              <a:off x="0" y="0"/>
              <a:ext cx="2064806" cy="705812"/>
            </a:xfrm>
            <a:custGeom>
              <a:avLst/>
              <a:gdLst/>
              <a:ahLst/>
              <a:cxnLst/>
              <a:rect r="r" b="b" t="t" l="l"/>
              <a:pathLst>
                <a:path h="705812" w="2064806">
                  <a:moveTo>
                    <a:pt x="0" y="0"/>
                  </a:moveTo>
                  <a:lnTo>
                    <a:pt x="2064806" y="0"/>
                  </a:lnTo>
                  <a:lnTo>
                    <a:pt x="2064806" y="705812"/>
                  </a:lnTo>
                  <a:lnTo>
                    <a:pt x="0" y="705812"/>
                  </a:lnTo>
                  <a:close/>
                </a:path>
              </a:pathLst>
            </a:custGeom>
            <a:solidFill>
              <a:srgbClr val="337B92"/>
            </a:solidFill>
            <a:ln cap="sq">
              <a:noFill/>
              <a:prstDash val="solid"/>
              <a:miter/>
            </a:ln>
          </p:spPr>
        </p:sp>
        <p:sp>
          <p:nvSpPr>
            <p:cNvPr name="TextBox 5" id="5"/>
            <p:cNvSpPr txBox="true"/>
            <p:nvPr/>
          </p:nvSpPr>
          <p:spPr>
            <a:xfrm>
              <a:off x="0" y="-38100"/>
              <a:ext cx="2064806" cy="743912"/>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4718405" y="1332627"/>
            <a:ext cx="1985756" cy="648459"/>
          </a:xfrm>
          <a:prstGeom prst="rect">
            <a:avLst/>
          </a:prstGeom>
        </p:spPr>
        <p:txBody>
          <a:bodyPr anchor="t" rtlCol="false" tIns="0" lIns="0" bIns="0" rIns="0">
            <a:spAutoFit/>
          </a:bodyPr>
          <a:lstStyle/>
          <a:p>
            <a:pPr algn="r" marL="0" indent="0" lvl="0">
              <a:lnSpc>
                <a:spcPts val="2518"/>
              </a:lnSpc>
            </a:pPr>
            <a:r>
              <a:rPr lang="en-US" b="true" sz="2353" spc="-117">
                <a:solidFill>
                  <a:srgbClr val="FFFFFF"/>
                </a:solidFill>
                <a:latin typeface="Inter Bold"/>
                <a:ea typeface="Inter Bold"/>
                <a:cs typeface="Inter Bold"/>
                <a:sym typeface="Inter Bold"/>
              </a:rPr>
              <a:t>Studio Shodwe</a:t>
            </a:r>
          </a:p>
        </p:txBody>
      </p:sp>
      <p:grpSp>
        <p:nvGrpSpPr>
          <p:cNvPr name="Group 7" id="7"/>
          <p:cNvGrpSpPr/>
          <p:nvPr/>
        </p:nvGrpSpPr>
        <p:grpSpPr>
          <a:xfrm rot="0">
            <a:off x="1351816" y="1981086"/>
            <a:ext cx="7792184" cy="3728806"/>
            <a:chOff x="0" y="0"/>
            <a:chExt cx="1696580" cy="811867"/>
          </a:xfrm>
        </p:grpSpPr>
        <p:sp>
          <p:nvSpPr>
            <p:cNvPr name="Freeform 8" id="8"/>
            <p:cNvSpPr/>
            <p:nvPr/>
          </p:nvSpPr>
          <p:spPr>
            <a:xfrm flipH="false" flipV="false" rot="0">
              <a:off x="0" y="0"/>
              <a:ext cx="1696580" cy="811867"/>
            </a:xfrm>
            <a:custGeom>
              <a:avLst/>
              <a:gdLst/>
              <a:ahLst/>
              <a:cxnLst/>
              <a:rect r="r" b="b" t="t" l="l"/>
              <a:pathLst>
                <a:path h="811867" w="1696580">
                  <a:moveTo>
                    <a:pt x="0" y="0"/>
                  </a:moveTo>
                  <a:lnTo>
                    <a:pt x="1696580" y="0"/>
                  </a:lnTo>
                  <a:lnTo>
                    <a:pt x="1696580" y="811867"/>
                  </a:lnTo>
                  <a:lnTo>
                    <a:pt x="0" y="811867"/>
                  </a:lnTo>
                  <a:close/>
                </a:path>
              </a:pathLst>
            </a:custGeom>
            <a:blipFill>
              <a:blip r:embed="rId4"/>
              <a:stretch>
                <a:fillRect l="0" t="-8773" r="0" b="-8773"/>
              </a:stretch>
            </a:blipFill>
          </p:spPr>
        </p:sp>
      </p:grpSp>
      <p:sp>
        <p:nvSpPr>
          <p:cNvPr name="AutoShape 9" id="9"/>
          <p:cNvSpPr/>
          <p:nvPr/>
        </p:nvSpPr>
        <p:spPr>
          <a:xfrm>
            <a:off x="1028700" y="1677159"/>
            <a:ext cx="14244844" cy="0"/>
          </a:xfrm>
          <a:prstGeom prst="line">
            <a:avLst/>
          </a:prstGeom>
          <a:ln cap="flat" w="38100">
            <a:solidFill>
              <a:srgbClr val="FFFFFF"/>
            </a:solidFill>
            <a:prstDash val="solid"/>
            <a:headEnd type="none" len="sm" w="sm"/>
            <a:tailEnd type="none" len="sm" w="sm"/>
          </a:ln>
        </p:spPr>
      </p:sp>
      <p:grpSp>
        <p:nvGrpSpPr>
          <p:cNvPr name="Group 10" id="10"/>
          <p:cNvGrpSpPr/>
          <p:nvPr/>
        </p:nvGrpSpPr>
        <p:grpSpPr>
          <a:xfrm rot="0">
            <a:off x="1028700" y="6483441"/>
            <a:ext cx="7839809" cy="2774859"/>
            <a:chOff x="0" y="0"/>
            <a:chExt cx="2064806" cy="730827"/>
          </a:xfrm>
        </p:grpSpPr>
        <p:sp>
          <p:nvSpPr>
            <p:cNvPr name="Freeform 11" id="11"/>
            <p:cNvSpPr/>
            <p:nvPr/>
          </p:nvSpPr>
          <p:spPr>
            <a:xfrm flipH="false" flipV="false" rot="0">
              <a:off x="0" y="0"/>
              <a:ext cx="2064806" cy="730827"/>
            </a:xfrm>
            <a:custGeom>
              <a:avLst/>
              <a:gdLst/>
              <a:ahLst/>
              <a:cxnLst/>
              <a:rect r="r" b="b" t="t" l="l"/>
              <a:pathLst>
                <a:path h="730827" w="2064806">
                  <a:moveTo>
                    <a:pt x="0" y="0"/>
                  </a:moveTo>
                  <a:lnTo>
                    <a:pt x="2064806" y="0"/>
                  </a:lnTo>
                  <a:lnTo>
                    <a:pt x="2064806" y="730827"/>
                  </a:lnTo>
                  <a:lnTo>
                    <a:pt x="0" y="730827"/>
                  </a:lnTo>
                  <a:close/>
                </a:path>
              </a:pathLst>
            </a:custGeom>
            <a:solidFill>
              <a:srgbClr val="337B92"/>
            </a:solidFill>
            <a:ln cap="sq">
              <a:noFill/>
              <a:prstDash val="solid"/>
              <a:miter/>
            </a:ln>
          </p:spPr>
        </p:sp>
        <p:sp>
          <p:nvSpPr>
            <p:cNvPr name="TextBox 12" id="12"/>
            <p:cNvSpPr txBox="true"/>
            <p:nvPr/>
          </p:nvSpPr>
          <p:spPr>
            <a:xfrm>
              <a:off x="0" y="-38100"/>
              <a:ext cx="2064806" cy="768927"/>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1487404" y="1981086"/>
            <a:ext cx="3395498" cy="2784308"/>
          </a:xfrm>
          <a:custGeom>
            <a:avLst/>
            <a:gdLst/>
            <a:ahLst/>
            <a:cxnLst/>
            <a:rect r="r" b="b" t="t" l="l"/>
            <a:pathLst>
              <a:path h="2784308" w="3395498">
                <a:moveTo>
                  <a:pt x="0" y="0"/>
                </a:moveTo>
                <a:lnTo>
                  <a:pt x="3395498" y="0"/>
                </a:lnTo>
                <a:lnTo>
                  <a:pt x="3395498" y="2784308"/>
                </a:lnTo>
                <a:lnTo>
                  <a:pt x="0" y="27843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4" id="14"/>
          <p:cNvSpPr txBox="true"/>
          <p:nvPr/>
        </p:nvSpPr>
        <p:spPr>
          <a:xfrm rot="0">
            <a:off x="9666146" y="5067853"/>
            <a:ext cx="7038015" cy="2395334"/>
          </a:xfrm>
          <a:prstGeom prst="rect">
            <a:avLst/>
          </a:prstGeom>
        </p:spPr>
        <p:txBody>
          <a:bodyPr anchor="t" rtlCol="false" tIns="0" lIns="0" bIns="0" rIns="0">
            <a:spAutoFit/>
          </a:bodyPr>
          <a:lstStyle/>
          <a:p>
            <a:pPr algn="l" marL="0" indent="0" lvl="0">
              <a:lnSpc>
                <a:spcPts val="2687"/>
              </a:lnSpc>
            </a:pPr>
            <a:r>
              <a:rPr lang="en-US" b="true" sz="2512" spc="-125">
                <a:solidFill>
                  <a:srgbClr val="FFFFFF"/>
                </a:solidFill>
                <a:latin typeface="Poppins Bold"/>
                <a:ea typeface="Poppins Bold"/>
                <a:cs typeface="Poppins Bold"/>
                <a:sym typeface="Poppins Bold"/>
              </a:rPr>
              <a:t>Tujuan dari analisis ini adalah untuk memahami bagaimana harga Bitcoin berubah dalam lima tahun terakhir, menganalisis faktor-faktor yang mempengaruhi volatilitasnya, serta mendapatkan insight mengenai peluang dan risiko investasi Bitcoin di masa depan.</a:t>
            </a:r>
          </a:p>
        </p:txBody>
      </p:sp>
      <p:sp>
        <p:nvSpPr>
          <p:cNvPr name="TextBox 15" id="15"/>
          <p:cNvSpPr txBox="true"/>
          <p:nvPr/>
        </p:nvSpPr>
        <p:spPr>
          <a:xfrm rot="0">
            <a:off x="1028700" y="408717"/>
            <a:ext cx="5774119" cy="963642"/>
          </a:xfrm>
          <a:prstGeom prst="rect">
            <a:avLst/>
          </a:prstGeom>
        </p:spPr>
        <p:txBody>
          <a:bodyPr anchor="t" rtlCol="false" tIns="0" lIns="0" bIns="0" rIns="0">
            <a:spAutoFit/>
          </a:bodyPr>
          <a:lstStyle/>
          <a:p>
            <a:pPr algn="l" marL="0" indent="0" lvl="0">
              <a:lnSpc>
                <a:spcPts val="6837"/>
              </a:lnSpc>
              <a:spcBef>
                <a:spcPct val="0"/>
              </a:spcBef>
            </a:pPr>
            <a:r>
              <a:rPr lang="en-US" b="true" sz="8140" spc="-504">
                <a:solidFill>
                  <a:srgbClr val="FFFFFF"/>
                </a:solidFill>
                <a:latin typeface="Inter Bold"/>
                <a:ea typeface="Inter Bold"/>
                <a:cs typeface="Inter Bold"/>
                <a:sym typeface="Inter Bold"/>
              </a:rPr>
              <a:t>Introduction</a:t>
            </a:r>
          </a:p>
        </p:txBody>
      </p:sp>
      <p:sp>
        <p:nvSpPr>
          <p:cNvPr name="TextBox 16" id="16"/>
          <p:cNvSpPr txBox="true"/>
          <p:nvPr/>
        </p:nvSpPr>
        <p:spPr>
          <a:xfrm rot="0">
            <a:off x="1351816" y="6796822"/>
            <a:ext cx="6869869" cy="2676965"/>
          </a:xfrm>
          <a:prstGeom prst="rect">
            <a:avLst/>
          </a:prstGeom>
        </p:spPr>
        <p:txBody>
          <a:bodyPr anchor="t" rtlCol="false" tIns="0" lIns="0" bIns="0" rIns="0">
            <a:spAutoFit/>
          </a:bodyPr>
          <a:lstStyle/>
          <a:p>
            <a:pPr algn="l">
              <a:lnSpc>
                <a:spcPts val="2623"/>
              </a:lnSpc>
            </a:pPr>
            <a:r>
              <a:rPr lang="en-US" sz="2452" spc="-122" b="true">
                <a:solidFill>
                  <a:srgbClr val="FFFFFF"/>
                </a:solidFill>
                <a:latin typeface="Poppins Bold"/>
                <a:ea typeface="Poppins Bold"/>
                <a:cs typeface="Poppins Bold"/>
                <a:sym typeface="Poppins Bold"/>
              </a:rPr>
              <a:t>Data harga Bitcoin diambil dari sumber terpercaya seperti Kaggle.</a:t>
            </a:r>
          </a:p>
          <a:p>
            <a:pPr algn="l" marL="0" indent="0" lvl="0">
              <a:lnSpc>
                <a:spcPts val="2623"/>
              </a:lnSpc>
            </a:pPr>
            <a:r>
              <a:rPr lang="en-US" b="true" sz="2452" spc="-122">
                <a:solidFill>
                  <a:srgbClr val="FFFFFF"/>
                </a:solidFill>
                <a:latin typeface="Poppins Bold"/>
                <a:ea typeface="Poppins Bold"/>
                <a:cs typeface="Poppins Bold"/>
                <a:sym typeface="Poppins Bold"/>
              </a:rPr>
              <a:t>Analisis dilakukan menggunakan Python, dengan library seperti Pandas untuk pengolahan data, Matplotlib dan Tableau untuk visualisasi, serta beberapa analisis statistik dasar.</a:t>
            </a:r>
          </a:p>
          <a:p>
            <a:pPr algn="l" marL="0" indent="0" lvl="0">
              <a:lnSpc>
                <a:spcPts val="2623"/>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33B5C"/>
        </a:solidFill>
      </p:bgPr>
    </p:bg>
    <p:spTree>
      <p:nvGrpSpPr>
        <p:cNvPr id="1" name=""/>
        <p:cNvGrpSpPr/>
        <p:nvPr/>
      </p:nvGrpSpPr>
      <p:grpSpPr>
        <a:xfrm>
          <a:off x="0" y="0"/>
          <a:ext cx="0" cy="0"/>
          <a:chOff x="0" y="0"/>
          <a:chExt cx="0" cy="0"/>
        </a:xfrm>
      </p:grpSpPr>
      <p:sp>
        <p:nvSpPr>
          <p:cNvPr name="Freeform 2" id="2"/>
          <p:cNvSpPr/>
          <p:nvPr/>
        </p:nvSpPr>
        <p:spPr>
          <a:xfrm flipH="false" flipV="false" rot="-5266970">
            <a:off x="3708813" y="-7177148"/>
            <a:ext cx="10232519" cy="19339812"/>
          </a:xfrm>
          <a:custGeom>
            <a:avLst/>
            <a:gdLst/>
            <a:ahLst/>
            <a:cxnLst/>
            <a:rect r="r" b="b" t="t" l="l"/>
            <a:pathLst>
              <a:path h="19339812" w="10232519">
                <a:moveTo>
                  <a:pt x="0" y="0"/>
                </a:moveTo>
                <a:lnTo>
                  <a:pt x="10232518" y="0"/>
                </a:lnTo>
                <a:lnTo>
                  <a:pt x="10232518" y="19339812"/>
                </a:lnTo>
                <a:lnTo>
                  <a:pt x="0" y="19339812"/>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7811460" y="2494676"/>
            <a:ext cx="9651997" cy="7214700"/>
            <a:chOff x="0" y="0"/>
            <a:chExt cx="2542090" cy="1900168"/>
          </a:xfrm>
        </p:grpSpPr>
        <p:sp>
          <p:nvSpPr>
            <p:cNvPr name="Freeform 4" id="4"/>
            <p:cNvSpPr/>
            <p:nvPr/>
          </p:nvSpPr>
          <p:spPr>
            <a:xfrm flipH="false" flipV="false" rot="0">
              <a:off x="0" y="0"/>
              <a:ext cx="2542090" cy="1900168"/>
            </a:xfrm>
            <a:custGeom>
              <a:avLst/>
              <a:gdLst/>
              <a:ahLst/>
              <a:cxnLst/>
              <a:rect r="r" b="b" t="t" l="l"/>
              <a:pathLst>
                <a:path h="1900168" w="2542090">
                  <a:moveTo>
                    <a:pt x="0" y="0"/>
                  </a:moveTo>
                  <a:lnTo>
                    <a:pt x="2542090" y="0"/>
                  </a:lnTo>
                  <a:lnTo>
                    <a:pt x="2542090" y="1900168"/>
                  </a:lnTo>
                  <a:lnTo>
                    <a:pt x="0" y="1900168"/>
                  </a:lnTo>
                  <a:close/>
                </a:path>
              </a:pathLst>
            </a:custGeom>
            <a:solidFill>
              <a:srgbClr val="337B92"/>
            </a:solidFill>
            <a:ln cap="sq">
              <a:noFill/>
              <a:prstDash val="solid"/>
              <a:miter/>
            </a:ln>
          </p:spPr>
        </p:sp>
        <p:sp>
          <p:nvSpPr>
            <p:cNvPr name="TextBox 5" id="5"/>
            <p:cNvSpPr txBox="true"/>
            <p:nvPr/>
          </p:nvSpPr>
          <p:spPr>
            <a:xfrm>
              <a:off x="0" y="-38100"/>
              <a:ext cx="2542090" cy="1938268"/>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752294" y="770829"/>
            <a:ext cx="6276702" cy="1272771"/>
          </a:xfrm>
          <a:prstGeom prst="rect">
            <a:avLst/>
          </a:prstGeom>
        </p:spPr>
        <p:txBody>
          <a:bodyPr anchor="t" rtlCol="false" tIns="0" lIns="0" bIns="0" rIns="0">
            <a:spAutoFit/>
          </a:bodyPr>
          <a:lstStyle/>
          <a:p>
            <a:pPr algn="l" marL="0" indent="0" lvl="0">
              <a:lnSpc>
                <a:spcPts val="4747"/>
              </a:lnSpc>
              <a:spcBef>
                <a:spcPct val="0"/>
              </a:spcBef>
            </a:pPr>
            <a:r>
              <a:rPr lang="en-US" b="true" sz="5651" spc="-350">
                <a:solidFill>
                  <a:srgbClr val="FFFFFF"/>
                </a:solidFill>
                <a:latin typeface="Inter Bold"/>
                <a:ea typeface="Inter Bold"/>
                <a:cs typeface="Inter Bold"/>
                <a:sym typeface="Inter Bold"/>
              </a:rPr>
              <a:t>Dashboard Bitcoin 5 Tahun Terakhir</a:t>
            </a:r>
          </a:p>
        </p:txBody>
      </p:sp>
      <p:grpSp>
        <p:nvGrpSpPr>
          <p:cNvPr name="Group 7" id="7"/>
          <p:cNvGrpSpPr/>
          <p:nvPr/>
        </p:nvGrpSpPr>
        <p:grpSpPr>
          <a:xfrm rot="0">
            <a:off x="752294" y="2492758"/>
            <a:ext cx="6848620" cy="2650742"/>
            <a:chOff x="0" y="0"/>
            <a:chExt cx="2601733" cy="1006994"/>
          </a:xfrm>
        </p:grpSpPr>
        <p:sp>
          <p:nvSpPr>
            <p:cNvPr name="Freeform 8" id="8"/>
            <p:cNvSpPr/>
            <p:nvPr/>
          </p:nvSpPr>
          <p:spPr>
            <a:xfrm flipH="false" flipV="false" rot="0">
              <a:off x="0" y="0"/>
              <a:ext cx="2601732" cy="1006994"/>
            </a:xfrm>
            <a:custGeom>
              <a:avLst/>
              <a:gdLst/>
              <a:ahLst/>
              <a:cxnLst/>
              <a:rect r="r" b="b" t="t" l="l"/>
              <a:pathLst>
                <a:path h="1006994" w="2601732">
                  <a:moveTo>
                    <a:pt x="0" y="0"/>
                  </a:moveTo>
                  <a:lnTo>
                    <a:pt x="2601732" y="0"/>
                  </a:lnTo>
                  <a:lnTo>
                    <a:pt x="2601732" y="1006994"/>
                  </a:lnTo>
                  <a:lnTo>
                    <a:pt x="0" y="1006994"/>
                  </a:lnTo>
                  <a:close/>
                </a:path>
              </a:pathLst>
            </a:custGeom>
            <a:blipFill>
              <a:blip r:embed="rId4"/>
              <a:stretch>
                <a:fillRect l="0" t="-1188" r="0" b="-1188"/>
              </a:stretch>
            </a:blipFill>
          </p:spPr>
        </p:sp>
      </p:grpSp>
      <p:sp>
        <p:nvSpPr>
          <p:cNvPr name="AutoShape 9" id="9"/>
          <p:cNvSpPr/>
          <p:nvPr/>
        </p:nvSpPr>
        <p:spPr>
          <a:xfrm flipV="true">
            <a:off x="752294" y="1331014"/>
            <a:ext cx="15535229" cy="0"/>
          </a:xfrm>
          <a:prstGeom prst="line">
            <a:avLst/>
          </a:prstGeom>
          <a:ln cap="flat" w="19050">
            <a:solidFill>
              <a:srgbClr val="FFFFFF"/>
            </a:solidFill>
            <a:prstDash val="solid"/>
            <a:headEnd type="none" len="sm" w="sm"/>
            <a:tailEnd type="none" len="sm" w="sm"/>
          </a:ln>
        </p:spPr>
      </p:sp>
      <p:sp>
        <p:nvSpPr>
          <p:cNvPr name="Freeform 10" id="10"/>
          <p:cNvSpPr/>
          <p:nvPr/>
        </p:nvSpPr>
        <p:spPr>
          <a:xfrm flipH="false" flipV="false" rot="0">
            <a:off x="1798642" y="6102026"/>
            <a:ext cx="3147904" cy="2867454"/>
          </a:xfrm>
          <a:custGeom>
            <a:avLst/>
            <a:gdLst/>
            <a:ahLst/>
            <a:cxnLst/>
            <a:rect r="r" b="b" t="t" l="l"/>
            <a:pathLst>
              <a:path h="2867454" w="3147904">
                <a:moveTo>
                  <a:pt x="0" y="0"/>
                </a:moveTo>
                <a:lnTo>
                  <a:pt x="3147903" y="0"/>
                </a:lnTo>
                <a:lnTo>
                  <a:pt x="3147903" y="2867455"/>
                </a:lnTo>
                <a:lnTo>
                  <a:pt x="0" y="286745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8476451" y="3197986"/>
            <a:ext cx="8468146" cy="997200"/>
          </a:xfrm>
          <a:prstGeom prst="rect">
            <a:avLst/>
          </a:prstGeom>
        </p:spPr>
        <p:txBody>
          <a:bodyPr anchor="t" rtlCol="false" tIns="0" lIns="0" bIns="0" rIns="0">
            <a:spAutoFit/>
          </a:bodyPr>
          <a:lstStyle/>
          <a:p>
            <a:pPr algn="ctr">
              <a:lnSpc>
                <a:spcPts val="2606"/>
              </a:lnSpc>
              <a:spcBef>
                <a:spcPct val="0"/>
              </a:spcBef>
            </a:pPr>
            <a:r>
              <a:rPr lang="en-US" b="true" sz="2436" spc="-121">
                <a:solidFill>
                  <a:srgbClr val="FFFFFF"/>
                </a:solidFill>
                <a:latin typeface="Inter Bold"/>
                <a:ea typeface="Inter Bold"/>
                <a:cs typeface="Inter Bold"/>
                <a:sym typeface="Inter Bold"/>
              </a:rPr>
              <a:t>slid</a:t>
            </a:r>
            <a:r>
              <a:rPr lang="en-US" b="true" sz="2436" spc="-121">
                <a:solidFill>
                  <a:srgbClr val="FFFFFF"/>
                </a:solidFill>
                <a:latin typeface="Inter Bold"/>
                <a:ea typeface="Inter Bold"/>
                <a:cs typeface="Inter Bold"/>
                <a:sym typeface="Inter Bold"/>
              </a:rPr>
              <a:t>e ini merupakan dashboard ringkasan yang menampilkan enam visualisasi yang akan saya presentasikan Satu-satu.</a:t>
            </a:r>
          </a:p>
          <a:p>
            <a:pPr algn="ctr">
              <a:lnSpc>
                <a:spcPts val="2606"/>
              </a:lnSpc>
              <a:spcBef>
                <a:spcPct val="0"/>
              </a:spcBef>
            </a:pPr>
          </a:p>
        </p:txBody>
      </p:sp>
      <p:sp>
        <p:nvSpPr>
          <p:cNvPr name="TextBox 12" id="12"/>
          <p:cNvSpPr txBox="true"/>
          <p:nvPr/>
        </p:nvSpPr>
        <p:spPr>
          <a:xfrm rot="0">
            <a:off x="7811460" y="4533127"/>
            <a:ext cx="9714840" cy="4725173"/>
          </a:xfrm>
          <a:prstGeom prst="rect">
            <a:avLst/>
          </a:prstGeom>
        </p:spPr>
        <p:txBody>
          <a:bodyPr anchor="t" rtlCol="false" tIns="0" lIns="0" bIns="0" rIns="0">
            <a:spAutoFit/>
          </a:bodyPr>
          <a:lstStyle/>
          <a:p>
            <a:pPr algn="ctr" marL="508338" indent="-254169" lvl="1">
              <a:lnSpc>
                <a:spcPts val="2519"/>
              </a:lnSpc>
              <a:buFont typeface="Arial"/>
              <a:buChar char="•"/>
            </a:pPr>
            <a:r>
              <a:rPr lang="en-US" sz="2354" spc="-117">
                <a:solidFill>
                  <a:srgbClr val="FFFFFF"/>
                </a:solidFill>
                <a:latin typeface="Bree Serif"/>
                <a:ea typeface="Bree Serif"/>
                <a:cs typeface="Bree Serif"/>
                <a:sym typeface="Bree Serif"/>
              </a:rPr>
              <a:t>Tren Rata-rata Harga Penutupan Harian – Menunjukkan fluktuasi harga harian secara keseluruhan.</a:t>
            </a:r>
          </a:p>
          <a:p>
            <a:pPr algn="ctr" marL="508338" indent="-254169" lvl="1">
              <a:lnSpc>
                <a:spcPts val="2519"/>
              </a:lnSpc>
              <a:spcBef>
                <a:spcPct val="0"/>
              </a:spcBef>
              <a:buFont typeface="Arial"/>
              <a:buChar char="•"/>
            </a:pPr>
            <a:r>
              <a:rPr lang="en-US" sz="2354" spc="-117">
                <a:solidFill>
                  <a:srgbClr val="FFFFFF"/>
                </a:solidFill>
                <a:latin typeface="Bree Serif"/>
                <a:ea typeface="Bree Serif"/>
                <a:cs typeface="Bree Serif"/>
                <a:sym typeface="Bree Serif"/>
              </a:rPr>
              <a:t>Trend Harga Rata-rata p</a:t>
            </a:r>
            <a:r>
              <a:rPr lang="en-US" sz="2354" spc="-117">
                <a:solidFill>
                  <a:srgbClr val="FFFFFF"/>
                </a:solidFill>
                <a:latin typeface="Bree Serif"/>
                <a:ea typeface="Bree Serif"/>
                <a:cs typeface="Bree Serif"/>
                <a:sym typeface="Bree Serif"/>
              </a:rPr>
              <a:t>er Tahun – Mengilustrasikan perubahan harga rata-rata setiap tahun, sehingga kita dapat melihat siklus bullish dan bearish.</a:t>
            </a:r>
          </a:p>
          <a:p>
            <a:pPr algn="ctr" marL="508338" indent="-254169" lvl="1">
              <a:lnSpc>
                <a:spcPts val="2519"/>
              </a:lnSpc>
              <a:spcBef>
                <a:spcPct val="0"/>
              </a:spcBef>
              <a:buFont typeface="Arial"/>
              <a:buChar char="•"/>
            </a:pPr>
            <a:r>
              <a:rPr lang="en-US" sz="2354" spc="-117">
                <a:solidFill>
                  <a:srgbClr val="FFFFFF"/>
                </a:solidFill>
                <a:latin typeface="Bree Serif"/>
                <a:ea typeface="Bree Serif"/>
                <a:cs typeface="Bree Serif"/>
                <a:sym typeface="Bree Serif"/>
              </a:rPr>
              <a:t>Rata-rata Harga BTC Per Bulan – Memetakan pola musiman dengan membandingkan rata-rata harga bulanan di tiap tahun.</a:t>
            </a:r>
          </a:p>
          <a:p>
            <a:pPr algn="ctr" marL="508338" indent="-254169" lvl="1">
              <a:lnSpc>
                <a:spcPts val="2519"/>
              </a:lnSpc>
              <a:spcBef>
                <a:spcPct val="0"/>
              </a:spcBef>
              <a:buFont typeface="Arial"/>
              <a:buChar char="•"/>
            </a:pPr>
            <a:r>
              <a:rPr lang="en-US" sz="2354" spc="-117">
                <a:solidFill>
                  <a:srgbClr val="FFFFFF"/>
                </a:solidFill>
                <a:latin typeface="Bree Serif"/>
                <a:ea typeface="Bree Serif"/>
                <a:cs typeface="Bree Serif"/>
                <a:sym typeface="Bree Serif"/>
              </a:rPr>
              <a:t>Tren Volume Perdagangan Tahunan – Menunjukkan total volume trading Bitcoin per tahun, yang berkaitan dengan tingkat minat pasar.</a:t>
            </a:r>
          </a:p>
          <a:p>
            <a:pPr algn="ctr" marL="508338" indent="-254169" lvl="1">
              <a:lnSpc>
                <a:spcPts val="2519"/>
              </a:lnSpc>
              <a:spcBef>
                <a:spcPct val="0"/>
              </a:spcBef>
              <a:buFont typeface="Arial"/>
              <a:buChar char="•"/>
            </a:pPr>
            <a:r>
              <a:rPr lang="en-US" sz="2354" spc="-117">
                <a:solidFill>
                  <a:srgbClr val="FFFFFF"/>
                </a:solidFill>
                <a:latin typeface="Bree Serif"/>
                <a:ea typeface="Bree Serif"/>
                <a:cs typeface="Bree Serif"/>
                <a:sym typeface="Bree Serif"/>
              </a:rPr>
              <a:t>10 Bulan dengan Volume Tertinggi – Mengidentifikasi bulan-bulan puncak aktivitas trading sepanjang lima tahun terakhir.</a:t>
            </a:r>
          </a:p>
          <a:p>
            <a:pPr algn="ctr" marL="508338" indent="-254169" lvl="1">
              <a:lnSpc>
                <a:spcPts val="2519"/>
              </a:lnSpc>
              <a:spcBef>
                <a:spcPct val="0"/>
              </a:spcBef>
              <a:buFont typeface="Arial"/>
              <a:buChar char="•"/>
            </a:pPr>
            <a:r>
              <a:rPr lang="en-US" sz="2354" spc="-117">
                <a:solidFill>
                  <a:srgbClr val="FFFFFF"/>
                </a:solidFill>
                <a:latin typeface="Bree Serif"/>
                <a:ea typeface="Bree Serif"/>
                <a:cs typeface="Bree Serif"/>
                <a:sym typeface="Bree Serif"/>
              </a:rPr>
              <a:t>Korelasi Harga vs Volume – Memetakan hubungan antara rata-rata harga penutupan dan volume trading per bulan, untuk melihat apakah kenaikan harga diiringi oleh lonjakan volume.</a:t>
            </a:r>
          </a:p>
          <a:p>
            <a:pPr algn="ctr">
              <a:lnSpc>
                <a:spcPts val="2519"/>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33B5C"/>
        </a:solidFill>
      </p:bgPr>
    </p:bg>
    <p:spTree>
      <p:nvGrpSpPr>
        <p:cNvPr id="1" name=""/>
        <p:cNvGrpSpPr/>
        <p:nvPr/>
      </p:nvGrpSpPr>
      <p:grpSpPr>
        <a:xfrm>
          <a:off x="0" y="0"/>
          <a:ext cx="0" cy="0"/>
          <a:chOff x="0" y="0"/>
          <a:chExt cx="0" cy="0"/>
        </a:xfrm>
      </p:grpSpPr>
      <p:sp>
        <p:nvSpPr>
          <p:cNvPr name="Freeform 2" id="2"/>
          <p:cNvSpPr/>
          <p:nvPr/>
        </p:nvSpPr>
        <p:spPr>
          <a:xfrm flipH="false" flipV="false" rot="-5714398">
            <a:off x="3074991" y="-4027665"/>
            <a:ext cx="10232519" cy="19339812"/>
          </a:xfrm>
          <a:custGeom>
            <a:avLst/>
            <a:gdLst/>
            <a:ahLst/>
            <a:cxnLst/>
            <a:rect r="r" b="b" t="t" l="l"/>
            <a:pathLst>
              <a:path h="19339812" w="10232519">
                <a:moveTo>
                  <a:pt x="0" y="0"/>
                </a:moveTo>
                <a:lnTo>
                  <a:pt x="10232519" y="0"/>
                </a:lnTo>
                <a:lnTo>
                  <a:pt x="10232519" y="19339812"/>
                </a:lnTo>
                <a:lnTo>
                  <a:pt x="0" y="19339812"/>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9144000" y="1465540"/>
            <a:ext cx="9144000" cy="8353403"/>
            <a:chOff x="0" y="0"/>
            <a:chExt cx="2408296" cy="2200073"/>
          </a:xfrm>
        </p:grpSpPr>
        <p:sp>
          <p:nvSpPr>
            <p:cNvPr name="Freeform 4" id="4"/>
            <p:cNvSpPr/>
            <p:nvPr/>
          </p:nvSpPr>
          <p:spPr>
            <a:xfrm flipH="false" flipV="false" rot="0">
              <a:off x="0" y="0"/>
              <a:ext cx="2408296" cy="2200073"/>
            </a:xfrm>
            <a:custGeom>
              <a:avLst/>
              <a:gdLst/>
              <a:ahLst/>
              <a:cxnLst/>
              <a:rect r="r" b="b" t="t" l="l"/>
              <a:pathLst>
                <a:path h="2200073" w="2408296">
                  <a:moveTo>
                    <a:pt x="0" y="0"/>
                  </a:moveTo>
                  <a:lnTo>
                    <a:pt x="2408296" y="0"/>
                  </a:lnTo>
                  <a:lnTo>
                    <a:pt x="2408296" y="2200073"/>
                  </a:lnTo>
                  <a:lnTo>
                    <a:pt x="0" y="2200073"/>
                  </a:lnTo>
                  <a:close/>
                </a:path>
              </a:pathLst>
            </a:custGeom>
            <a:solidFill>
              <a:srgbClr val="337B92"/>
            </a:solidFill>
            <a:ln cap="sq">
              <a:noFill/>
              <a:prstDash val="solid"/>
              <a:miter/>
            </a:ln>
          </p:spPr>
        </p:sp>
        <p:sp>
          <p:nvSpPr>
            <p:cNvPr name="TextBox 5" id="5"/>
            <p:cNvSpPr txBox="true"/>
            <p:nvPr/>
          </p:nvSpPr>
          <p:spPr>
            <a:xfrm>
              <a:off x="0" y="-38100"/>
              <a:ext cx="2408296" cy="223817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382716" y="2808937"/>
            <a:ext cx="9087643" cy="3930529"/>
            <a:chOff x="0" y="0"/>
            <a:chExt cx="2628673" cy="1136937"/>
          </a:xfrm>
        </p:grpSpPr>
        <p:sp>
          <p:nvSpPr>
            <p:cNvPr name="Freeform 7" id="7"/>
            <p:cNvSpPr/>
            <p:nvPr/>
          </p:nvSpPr>
          <p:spPr>
            <a:xfrm flipH="false" flipV="false" rot="0">
              <a:off x="0" y="0"/>
              <a:ext cx="2628673" cy="1136937"/>
            </a:xfrm>
            <a:custGeom>
              <a:avLst/>
              <a:gdLst/>
              <a:ahLst/>
              <a:cxnLst/>
              <a:rect r="r" b="b" t="t" l="l"/>
              <a:pathLst>
                <a:path h="1136937" w="2628673">
                  <a:moveTo>
                    <a:pt x="0" y="0"/>
                  </a:moveTo>
                  <a:lnTo>
                    <a:pt x="2628673" y="0"/>
                  </a:lnTo>
                  <a:lnTo>
                    <a:pt x="2628673" y="1136937"/>
                  </a:lnTo>
                  <a:lnTo>
                    <a:pt x="0" y="1136937"/>
                  </a:lnTo>
                  <a:close/>
                </a:path>
              </a:pathLst>
            </a:custGeom>
            <a:blipFill>
              <a:blip r:embed="rId4"/>
              <a:stretch>
                <a:fillRect l="-634" t="0" r="-634" b="0"/>
              </a:stretch>
            </a:blipFill>
          </p:spPr>
        </p:sp>
      </p:grpSp>
      <p:sp>
        <p:nvSpPr>
          <p:cNvPr name="AutoShape 8" id="8"/>
          <p:cNvSpPr/>
          <p:nvPr/>
        </p:nvSpPr>
        <p:spPr>
          <a:xfrm>
            <a:off x="0" y="1047750"/>
            <a:ext cx="16259802" cy="0"/>
          </a:xfrm>
          <a:prstGeom prst="line">
            <a:avLst/>
          </a:prstGeom>
          <a:ln cap="flat" w="38100">
            <a:solidFill>
              <a:srgbClr val="FFFFFF"/>
            </a:solidFill>
            <a:prstDash val="solid"/>
            <a:headEnd type="none" len="sm" w="sm"/>
            <a:tailEnd type="none" len="sm" w="sm"/>
          </a:ln>
        </p:spPr>
      </p:sp>
      <p:sp>
        <p:nvSpPr>
          <p:cNvPr name="Freeform 9" id="9"/>
          <p:cNvSpPr/>
          <p:nvPr/>
        </p:nvSpPr>
        <p:spPr>
          <a:xfrm flipH="false" flipV="false" rot="0">
            <a:off x="2318124" y="6933614"/>
            <a:ext cx="3447356" cy="2547815"/>
          </a:xfrm>
          <a:custGeom>
            <a:avLst/>
            <a:gdLst/>
            <a:ahLst/>
            <a:cxnLst/>
            <a:rect r="r" b="b" t="t" l="l"/>
            <a:pathLst>
              <a:path h="2547815" w="3447356">
                <a:moveTo>
                  <a:pt x="0" y="0"/>
                </a:moveTo>
                <a:lnTo>
                  <a:pt x="3447357" y="0"/>
                </a:lnTo>
                <a:lnTo>
                  <a:pt x="3447357" y="2547815"/>
                </a:lnTo>
                <a:lnTo>
                  <a:pt x="0" y="25478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382716" y="2622"/>
            <a:ext cx="5080864" cy="1800431"/>
          </a:xfrm>
          <a:prstGeom prst="rect">
            <a:avLst/>
          </a:prstGeom>
        </p:spPr>
        <p:txBody>
          <a:bodyPr anchor="t" rtlCol="false" tIns="0" lIns="0" bIns="0" rIns="0">
            <a:spAutoFit/>
          </a:bodyPr>
          <a:lstStyle/>
          <a:p>
            <a:pPr algn="ctr">
              <a:lnSpc>
                <a:spcPts val="7263"/>
              </a:lnSpc>
            </a:pPr>
            <a:r>
              <a:rPr lang="en-US" sz="5187" b="true">
                <a:solidFill>
                  <a:srgbClr val="FFFFFF"/>
                </a:solidFill>
                <a:latin typeface="Open Sans Bold"/>
                <a:ea typeface="Open Sans Bold"/>
                <a:cs typeface="Open Sans Bold"/>
                <a:sym typeface="Open Sans Bold"/>
              </a:rPr>
              <a:t>Tren Rata-rata</a:t>
            </a:r>
          </a:p>
          <a:p>
            <a:pPr algn="ctr">
              <a:lnSpc>
                <a:spcPts val="7263"/>
              </a:lnSpc>
            </a:pPr>
            <a:r>
              <a:rPr lang="en-US" sz="5187" b="true">
                <a:solidFill>
                  <a:srgbClr val="FFFFFF"/>
                </a:solidFill>
                <a:latin typeface="Open Sans Bold"/>
                <a:ea typeface="Open Sans Bold"/>
                <a:cs typeface="Open Sans Bold"/>
                <a:sym typeface="Open Sans Bold"/>
              </a:rPr>
              <a:t> Harga Bitcoin</a:t>
            </a:r>
          </a:p>
        </p:txBody>
      </p:sp>
      <p:sp>
        <p:nvSpPr>
          <p:cNvPr name="TextBox 11" id="11"/>
          <p:cNvSpPr txBox="true"/>
          <p:nvPr/>
        </p:nvSpPr>
        <p:spPr>
          <a:xfrm rot="0">
            <a:off x="9498886" y="1774478"/>
            <a:ext cx="8434228" cy="7706951"/>
          </a:xfrm>
          <a:prstGeom prst="rect">
            <a:avLst/>
          </a:prstGeom>
        </p:spPr>
        <p:txBody>
          <a:bodyPr anchor="t" rtlCol="false" tIns="0" lIns="0" bIns="0" rIns="0">
            <a:spAutoFit/>
          </a:bodyPr>
          <a:lstStyle/>
          <a:p>
            <a:pPr algn="ctr">
              <a:lnSpc>
                <a:spcPts val="2032"/>
              </a:lnSpc>
            </a:pPr>
            <a:r>
              <a:rPr lang="en-US" sz="1451" b="true">
                <a:solidFill>
                  <a:srgbClr val="FFFFFF"/>
                </a:solidFill>
                <a:latin typeface="Open Sans Bold"/>
                <a:ea typeface="Open Sans Bold"/>
                <a:cs typeface="Open Sans Bold"/>
                <a:sym typeface="Open Sans Bold"/>
              </a:rPr>
              <a:t>Slide ini menampilkan rata-rata harga penutupan Bitcoin harian dari awal 2019 hingga April 2024, yang terbagi dalam beberapa fase menarik:</a:t>
            </a:r>
          </a:p>
          <a:p>
            <a:pPr algn="ctr" marL="313425" indent="-156713" lvl="1">
              <a:lnSpc>
                <a:spcPts val="2032"/>
              </a:lnSpc>
              <a:buAutoNum type="arabicPeriod" startAt="1"/>
            </a:pPr>
            <a:r>
              <a:rPr lang="en-US" b="true" sz="1451">
                <a:solidFill>
                  <a:srgbClr val="FFFFFF"/>
                </a:solidFill>
                <a:latin typeface="Open Sans Bold"/>
                <a:ea typeface="Open Sans Bold"/>
                <a:cs typeface="Open Sans Bold"/>
                <a:sym typeface="Open Sans Bold"/>
              </a:rPr>
              <a:t>Konsolidasi Awal (Jan 2019–Des 2019)</a:t>
            </a:r>
          </a:p>
          <a:p>
            <a:pPr algn="ctr" marL="626851" indent="-208950" lvl="2">
              <a:lnSpc>
                <a:spcPts val="2032"/>
              </a:lnSpc>
              <a:buFont typeface="Arial"/>
              <a:buChar char="⚬"/>
            </a:pPr>
            <a:r>
              <a:rPr lang="en-US" b="true" sz="1451">
                <a:solidFill>
                  <a:srgbClr val="FFFFFF"/>
                </a:solidFill>
                <a:latin typeface="Open Sans Bold"/>
                <a:ea typeface="Open Sans Bold"/>
                <a:cs typeface="Open Sans Bold"/>
                <a:sym typeface="Open Sans Bold"/>
              </a:rPr>
              <a:t>Harga bergerak relatif stabil di kisaran $3.000–$10.000 setelah berakhirnya bear market 2018.</a:t>
            </a:r>
          </a:p>
          <a:p>
            <a:pPr algn="ctr" marL="626851" indent="-208950" lvl="2">
              <a:lnSpc>
                <a:spcPts val="2032"/>
              </a:lnSpc>
              <a:buFont typeface="Arial"/>
              <a:buChar char="⚬"/>
            </a:pPr>
            <a:r>
              <a:rPr lang="en-US" b="true" sz="1451">
                <a:solidFill>
                  <a:srgbClr val="FFFFFF"/>
                </a:solidFill>
                <a:latin typeface="Open Sans Bold"/>
                <a:ea typeface="Open Sans Bold"/>
                <a:cs typeface="Open Sans Bold"/>
                <a:sym typeface="Open Sans Bold"/>
              </a:rPr>
              <a:t>Volatilitas masih terkendali karena pasar sedang mencari arah baru, dan adopsi institusional belum massif.</a:t>
            </a:r>
          </a:p>
          <a:p>
            <a:pPr algn="ctr" marL="313425" indent="-156713" lvl="1">
              <a:lnSpc>
                <a:spcPts val="2032"/>
              </a:lnSpc>
              <a:buAutoNum type="arabicPeriod" startAt="1"/>
            </a:pPr>
            <a:r>
              <a:rPr lang="en-US" b="true" sz="1451">
                <a:solidFill>
                  <a:srgbClr val="FFFFFF"/>
                </a:solidFill>
                <a:latin typeface="Open Sans Bold"/>
                <a:ea typeface="Open Sans Bold"/>
                <a:cs typeface="Open Sans Bold"/>
                <a:sym typeface="Open Sans Bold"/>
              </a:rPr>
              <a:t>Sentimen Pandemi &amp; Rebound (Jan 2020–Mei 2020)</a:t>
            </a:r>
          </a:p>
          <a:p>
            <a:pPr algn="ctr" marL="626851" indent="-208950" lvl="2">
              <a:lnSpc>
                <a:spcPts val="2032"/>
              </a:lnSpc>
              <a:buFont typeface="Arial"/>
              <a:buChar char="⚬"/>
            </a:pPr>
            <a:r>
              <a:rPr lang="en-US" b="true" sz="1451">
                <a:solidFill>
                  <a:srgbClr val="FFFFFF"/>
                </a:solidFill>
                <a:latin typeface="Open Sans Bold"/>
                <a:ea typeface="Open Sans Bold"/>
                <a:cs typeface="Open Sans Bold"/>
                <a:sym typeface="Open Sans Bold"/>
              </a:rPr>
              <a:t>Awal 2020, Bitcoin mulai menguat mendekati $10.000 karena pandangan sebagai aset safe-haven saat COVID-19 meluas.</a:t>
            </a:r>
          </a:p>
          <a:p>
            <a:pPr algn="ctr" marL="626851" indent="-208950" lvl="2">
              <a:lnSpc>
                <a:spcPts val="2032"/>
              </a:lnSpc>
              <a:buFont typeface="Arial"/>
              <a:buChar char="⚬"/>
            </a:pPr>
            <a:r>
              <a:rPr lang="en-US" b="true" sz="1451">
                <a:solidFill>
                  <a:srgbClr val="FFFFFF"/>
                </a:solidFill>
                <a:latin typeface="Open Sans Bold"/>
                <a:ea typeface="Open Sans Bold"/>
                <a:cs typeface="Open Sans Bold"/>
                <a:sym typeface="Open Sans Bold"/>
              </a:rPr>
              <a:t>Di Maret 2020 terjadi koreksi signifikan—harga sempat turun mendekati $5.000—tapi dengan cepat pulih dalam beberapa minggu berkat stimulus ekonomi global.</a:t>
            </a:r>
          </a:p>
          <a:p>
            <a:pPr algn="ctr" marL="313425" indent="-156713" lvl="1">
              <a:lnSpc>
                <a:spcPts val="2032"/>
              </a:lnSpc>
              <a:buAutoNum type="arabicPeriod" startAt="1"/>
            </a:pPr>
            <a:r>
              <a:rPr lang="en-US" b="true" sz="1451">
                <a:solidFill>
                  <a:srgbClr val="FFFFFF"/>
                </a:solidFill>
                <a:latin typeface="Open Sans Bold"/>
                <a:ea typeface="Open Sans Bold"/>
                <a:cs typeface="Open Sans Bold"/>
                <a:sym typeface="Open Sans Bold"/>
              </a:rPr>
              <a:t>Bull Run Spektakuler (Jun 2020–Apr 2021)</a:t>
            </a:r>
          </a:p>
          <a:p>
            <a:pPr algn="ctr" marL="626851" indent="-208950" lvl="2">
              <a:lnSpc>
                <a:spcPts val="2032"/>
              </a:lnSpc>
              <a:buFont typeface="Arial"/>
              <a:buChar char="⚬"/>
            </a:pPr>
            <a:r>
              <a:rPr lang="en-US" b="true" sz="1451">
                <a:solidFill>
                  <a:srgbClr val="FFFFFF"/>
                </a:solidFill>
                <a:latin typeface="Open Sans Bold"/>
                <a:ea typeface="Open Sans Bold"/>
                <a:cs typeface="Open Sans Bold"/>
                <a:sym typeface="Open Sans Bold"/>
              </a:rPr>
              <a:t>Bitcoin melonjak dari sekitar $9.000 ke hampir $65.000 dalam waktu kurang dari setahun.</a:t>
            </a:r>
          </a:p>
          <a:p>
            <a:pPr algn="ctr" marL="626851" indent="-208950" lvl="2">
              <a:lnSpc>
                <a:spcPts val="2032"/>
              </a:lnSpc>
              <a:buFont typeface="Arial"/>
              <a:buChar char="⚬"/>
            </a:pPr>
            <a:r>
              <a:rPr lang="en-US" b="true" sz="1451">
                <a:solidFill>
                  <a:srgbClr val="FFFFFF"/>
                </a:solidFill>
                <a:latin typeface="Open Sans Bold"/>
                <a:ea typeface="Open Sans Bold"/>
                <a:cs typeface="Open Sans Bold"/>
                <a:sym typeface="Open Sans Bold"/>
              </a:rPr>
              <a:t>Pendorong utama: arus masuk modal institusi (</a:t>
            </a:r>
            <a:r>
              <a:rPr lang="en-US" b="true" sz="1451">
                <a:solidFill>
                  <a:srgbClr val="FFFFFF"/>
                </a:solidFill>
                <a:latin typeface="Open Sans Bold"/>
                <a:ea typeface="Open Sans Bold"/>
                <a:cs typeface="Open Sans Bold"/>
                <a:sym typeface="Open Sans Bold"/>
              </a:rPr>
              <a:t>Tesla, MicroStrategy), antisipasi halving Mei 2020, serta persepsi Bitcoin sebagai ‘emas digital’ di tengah likuiditas besar.</a:t>
            </a:r>
          </a:p>
          <a:p>
            <a:pPr algn="ctr" marL="313425" indent="-156713" lvl="1">
              <a:lnSpc>
                <a:spcPts val="2032"/>
              </a:lnSpc>
              <a:buAutoNum type="arabicPeriod" startAt="1"/>
            </a:pPr>
            <a:r>
              <a:rPr lang="en-US" b="true" sz="1451">
                <a:solidFill>
                  <a:srgbClr val="FFFFFF"/>
                </a:solidFill>
                <a:latin typeface="Open Sans Bold"/>
                <a:ea typeface="Open Sans Bold"/>
                <a:cs typeface="Open Sans Bold"/>
                <a:sym typeface="Open Sans Bold"/>
              </a:rPr>
              <a:t>Koreksi &amp; Fluktuasi Tinggi (Mei 2021–Des 2022)</a:t>
            </a:r>
          </a:p>
          <a:p>
            <a:pPr algn="ctr" marL="626851" indent="-208950" lvl="2">
              <a:lnSpc>
                <a:spcPts val="2032"/>
              </a:lnSpc>
              <a:buFont typeface="Arial"/>
              <a:buChar char="⚬"/>
            </a:pPr>
            <a:r>
              <a:rPr lang="en-US" b="true" sz="1451">
                <a:solidFill>
                  <a:srgbClr val="FFFFFF"/>
                </a:solidFill>
                <a:latin typeface="Open Sans Bold"/>
                <a:ea typeface="Open Sans Bold"/>
                <a:cs typeface="Open Sans Bold"/>
                <a:sym typeface="Open Sans Bold"/>
              </a:rPr>
              <a:t>Setelah mencapai puncak, harga terjun ke sekitar $30.000 pada pertengahan 2021, lalu sempat rebound, dan kembali jatuh di 2022 ke bawah $20.000.</a:t>
            </a:r>
          </a:p>
          <a:p>
            <a:pPr algn="ctr" marL="626851" indent="-208950" lvl="2">
              <a:lnSpc>
                <a:spcPts val="2032"/>
              </a:lnSpc>
              <a:buFont typeface="Arial"/>
              <a:buChar char="⚬"/>
            </a:pPr>
            <a:r>
              <a:rPr lang="en-US" b="true" sz="1451">
                <a:solidFill>
                  <a:srgbClr val="FFFFFF"/>
                </a:solidFill>
                <a:latin typeface="Open Sans Bold"/>
                <a:ea typeface="Open Sans Bold"/>
                <a:cs typeface="Open Sans Bold"/>
                <a:sym typeface="Open Sans Bold"/>
              </a:rPr>
              <a:t>Faktor tekanan: kenaikan suku bunga AS, inflasi global, dan guncangan pada platform seperti FTX, memicu sell-off besar dan volatilitas tinggi.</a:t>
            </a:r>
          </a:p>
          <a:p>
            <a:pPr algn="ctr" marL="313425" indent="-156713" lvl="1">
              <a:lnSpc>
                <a:spcPts val="2032"/>
              </a:lnSpc>
              <a:buAutoNum type="arabicPeriod" startAt="1"/>
            </a:pPr>
            <a:r>
              <a:rPr lang="en-US" b="true" sz="1451">
                <a:solidFill>
                  <a:srgbClr val="FFFFFF"/>
                </a:solidFill>
                <a:latin typeface="Open Sans Bold"/>
                <a:ea typeface="Open Sans Bold"/>
                <a:cs typeface="Open Sans Bold"/>
                <a:sym typeface="Open Sans Bold"/>
              </a:rPr>
              <a:t>Konsolidasi &amp; Pemulihan Awal (Jan 2023–Apr 2024)</a:t>
            </a:r>
          </a:p>
          <a:p>
            <a:pPr algn="ctr" marL="626851" indent="-208950" lvl="2">
              <a:lnSpc>
                <a:spcPts val="2032"/>
              </a:lnSpc>
              <a:buFont typeface="Arial"/>
              <a:buChar char="⚬"/>
            </a:pPr>
            <a:r>
              <a:rPr lang="en-US" b="true" sz="1451">
                <a:solidFill>
                  <a:srgbClr val="FFFFFF"/>
                </a:solidFill>
                <a:latin typeface="Open Sans Bold"/>
                <a:ea typeface="Open Sans Bold"/>
                <a:cs typeface="Open Sans Bold"/>
                <a:sym typeface="Open Sans Bold"/>
              </a:rPr>
              <a:t>Memasuki 2023, harga berkonsolidasi di $20.000–$30.000, mencerminkan pasar yang mulai ‘tenang.’</a:t>
            </a:r>
          </a:p>
          <a:p>
            <a:pPr algn="ctr" marL="626851" indent="-208950" lvl="2">
              <a:lnSpc>
                <a:spcPts val="2032"/>
              </a:lnSpc>
              <a:buFont typeface="Arial"/>
              <a:buChar char="⚬"/>
            </a:pPr>
            <a:r>
              <a:rPr lang="en-US" b="true" sz="1451">
                <a:solidFill>
                  <a:srgbClr val="FFFFFF"/>
                </a:solidFill>
                <a:latin typeface="Open Sans Bold"/>
                <a:ea typeface="Open Sans Bold"/>
                <a:cs typeface="Open Sans Bold"/>
                <a:sym typeface="Open Sans Bold"/>
              </a:rPr>
              <a:t>Sejak akhir 2023 hingga April 2024, terlihat tren kenaikan perlahan menuju $50.000 seiring regulasi lebih matang dan minat investor jangka panjang yang kembali tumbuh.</a:t>
            </a:r>
          </a:p>
          <a:p>
            <a:pPr algn="ctr">
              <a:lnSpc>
                <a:spcPts val="2032"/>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33B5C"/>
        </a:solidFill>
      </p:bgPr>
    </p:bg>
    <p:spTree>
      <p:nvGrpSpPr>
        <p:cNvPr id="1" name=""/>
        <p:cNvGrpSpPr/>
        <p:nvPr/>
      </p:nvGrpSpPr>
      <p:grpSpPr>
        <a:xfrm>
          <a:off x="0" y="0"/>
          <a:ext cx="0" cy="0"/>
          <a:chOff x="0" y="0"/>
          <a:chExt cx="0" cy="0"/>
        </a:xfrm>
      </p:grpSpPr>
      <p:sp>
        <p:nvSpPr>
          <p:cNvPr name="Freeform 2" id="2"/>
          <p:cNvSpPr/>
          <p:nvPr/>
        </p:nvSpPr>
        <p:spPr>
          <a:xfrm flipH="false" flipV="false" rot="-5714398">
            <a:off x="3708813" y="-1995692"/>
            <a:ext cx="10232519" cy="19339812"/>
          </a:xfrm>
          <a:custGeom>
            <a:avLst/>
            <a:gdLst/>
            <a:ahLst/>
            <a:cxnLst/>
            <a:rect r="r" b="b" t="t" l="l"/>
            <a:pathLst>
              <a:path h="19339812" w="10232519">
                <a:moveTo>
                  <a:pt x="0" y="0"/>
                </a:moveTo>
                <a:lnTo>
                  <a:pt x="10232518" y="0"/>
                </a:lnTo>
                <a:lnTo>
                  <a:pt x="10232518" y="19339812"/>
                </a:lnTo>
                <a:lnTo>
                  <a:pt x="0" y="19339812"/>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152845" y="3367813"/>
            <a:ext cx="18440845" cy="7404407"/>
            <a:chOff x="0" y="0"/>
            <a:chExt cx="4856848" cy="1950132"/>
          </a:xfrm>
        </p:grpSpPr>
        <p:sp>
          <p:nvSpPr>
            <p:cNvPr name="Freeform 4" id="4"/>
            <p:cNvSpPr/>
            <p:nvPr/>
          </p:nvSpPr>
          <p:spPr>
            <a:xfrm flipH="false" flipV="false" rot="0">
              <a:off x="0" y="0"/>
              <a:ext cx="4856848" cy="1950132"/>
            </a:xfrm>
            <a:custGeom>
              <a:avLst/>
              <a:gdLst/>
              <a:ahLst/>
              <a:cxnLst/>
              <a:rect r="r" b="b" t="t" l="l"/>
              <a:pathLst>
                <a:path h="1950132" w="4856848">
                  <a:moveTo>
                    <a:pt x="0" y="0"/>
                  </a:moveTo>
                  <a:lnTo>
                    <a:pt x="4856848" y="0"/>
                  </a:lnTo>
                  <a:lnTo>
                    <a:pt x="4856848" y="1950132"/>
                  </a:lnTo>
                  <a:lnTo>
                    <a:pt x="0" y="1950132"/>
                  </a:lnTo>
                  <a:close/>
                </a:path>
              </a:pathLst>
            </a:custGeom>
            <a:solidFill>
              <a:srgbClr val="337B92"/>
            </a:solidFill>
            <a:ln cap="sq">
              <a:noFill/>
              <a:prstDash val="solid"/>
              <a:miter/>
            </a:ln>
          </p:spPr>
        </p:sp>
        <p:sp>
          <p:nvSpPr>
            <p:cNvPr name="TextBox 5" id="5"/>
            <p:cNvSpPr txBox="true"/>
            <p:nvPr/>
          </p:nvSpPr>
          <p:spPr>
            <a:xfrm>
              <a:off x="0" y="-38100"/>
              <a:ext cx="4856848" cy="1988232"/>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9701399" y="1028700"/>
            <a:ext cx="7905924" cy="4203645"/>
            <a:chOff x="0" y="0"/>
            <a:chExt cx="1467215" cy="780131"/>
          </a:xfrm>
        </p:grpSpPr>
        <p:sp>
          <p:nvSpPr>
            <p:cNvPr name="Freeform 7" id="7"/>
            <p:cNvSpPr/>
            <p:nvPr/>
          </p:nvSpPr>
          <p:spPr>
            <a:xfrm flipH="false" flipV="false" rot="0">
              <a:off x="0" y="0"/>
              <a:ext cx="1467215" cy="780131"/>
            </a:xfrm>
            <a:custGeom>
              <a:avLst/>
              <a:gdLst/>
              <a:ahLst/>
              <a:cxnLst/>
              <a:rect r="r" b="b" t="t" l="l"/>
              <a:pathLst>
                <a:path h="780131" w="1467215">
                  <a:moveTo>
                    <a:pt x="0" y="0"/>
                  </a:moveTo>
                  <a:lnTo>
                    <a:pt x="1467215" y="0"/>
                  </a:lnTo>
                  <a:lnTo>
                    <a:pt x="1467215" y="780131"/>
                  </a:lnTo>
                  <a:lnTo>
                    <a:pt x="0" y="780131"/>
                  </a:lnTo>
                  <a:close/>
                </a:path>
              </a:pathLst>
            </a:custGeom>
            <a:blipFill>
              <a:blip r:embed="rId4"/>
              <a:stretch>
                <a:fillRect l="0" t="0" r="0" b="-1070"/>
              </a:stretch>
            </a:blipFill>
          </p:spPr>
        </p:sp>
      </p:grpSp>
      <p:sp>
        <p:nvSpPr>
          <p:cNvPr name="Freeform 8" id="8"/>
          <p:cNvSpPr/>
          <p:nvPr/>
        </p:nvSpPr>
        <p:spPr>
          <a:xfrm flipH="false" flipV="false" rot="0">
            <a:off x="3694287" y="2705765"/>
            <a:ext cx="2691455" cy="2001464"/>
          </a:xfrm>
          <a:custGeom>
            <a:avLst/>
            <a:gdLst/>
            <a:ahLst/>
            <a:cxnLst/>
            <a:rect r="r" b="b" t="t" l="l"/>
            <a:pathLst>
              <a:path h="2001464" w="2691455">
                <a:moveTo>
                  <a:pt x="0" y="0"/>
                </a:moveTo>
                <a:lnTo>
                  <a:pt x="2691455" y="0"/>
                </a:lnTo>
                <a:lnTo>
                  <a:pt x="2691455" y="2001464"/>
                </a:lnTo>
                <a:lnTo>
                  <a:pt x="0" y="20014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480976" y="834755"/>
            <a:ext cx="6896632" cy="1627657"/>
          </a:xfrm>
          <a:prstGeom prst="rect">
            <a:avLst/>
          </a:prstGeom>
        </p:spPr>
        <p:txBody>
          <a:bodyPr anchor="t" rtlCol="false" tIns="0" lIns="0" bIns="0" rIns="0">
            <a:spAutoFit/>
          </a:bodyPr>
          <a:lstStyle/>
          <a:p>
            <a:pPr algn="ctr">
              <a:lnSpc>
                <a:spcPts val="6501"/>
              </a:lnSpc>
            </a:pPr>
            <a:r>
              <a:rPr lang="en-US" b="true" sz="4644">
                <a:solidFill>
                  <a:srgbClr val="FFFFFF"/>
                </a:solidFill>
                <a:latin typeface="Open Sans Bold"/>
                <a:ea typeface="Open Sans Bold"/>
                <a:cs typeface="Open Sans Bold"/>
                <a:sym typeface="Open Sans Bold"/>
              </a:rPr>
              <a:t>Trend Harga Rata-rata Bitcoin per Tahun</a:t>
            </a:r>
          </a:p>
        </p:txBody>
      </p:sp>
      <p:sp>
        <p:nvSpPr>
          <p:cNvPr name="TextBox 10" id="10"/>
          <p:cNvSpPr txBox="true"/>
          <p:nvPr/>
        </p:nvSpPr>
        <p:spPr>
          <a:xfrm rot="0">
            <a:off x="209737" y="5340702"/>
            <a:ext cx="9144000" cy="4638449"/>
          </a:xfrm>
          <a:prstGeom prst="rect">
            <a:avLst/>
          </a:prstGeom>
        </p:spPr>
        <p:txBody>
          <a:bodyPr anchor="t" rtlCol="false" tIns="0" lIns="0" bIns="0" rIns="0">
            <a:spAutoFit/>
          </a:bodyPr>
          <a:lstStyle/>
          <a:p>
            <a:pPr algn="ctr">
              <a:lnSpc>
                <a:spcPts val="2169"/>
              </a:lnSpc>
            </a:pPr>
            <a:r>
              <a:rPr lang="en-US" sz="1549" b="true">
                <a:solidFill>
                  <a:srgbClr val="FFFFFF"/>
                </a:solidFill>
                <a:latin typeface="Open Sans Bold"/>
                <a:ea typeface="Open Sans Bold"/>
                <a:cs typeface="Open Sans Bold"/>
                <a:sym typeface="Open Sans Bold"/>
              </a:rPr>
              <a:t>Pada slide ini dit</a:t>
            </a:r>
            <a:r>
              <a:rPr lang="en-US" b="true" sz="1549">
                <a:solidFill>
                  <a:srgbClr val="FFFFFF"/>
                </a:solidFill>
                <a:latin typeface="Open Sans Bold"/>
                <a:ea typeface="Open Sans Bold"/>
                <a:cs typeface="Open Sans Bold"/>
                <a:sym typeface="Open Sans Bold"/>
              </a:rPr>
              <a:t>ampilkan garis yang menghubungkan rata-rata harga penutupan Bitcoin untuk setiap tahun dari 2019 hingga 2024, lengkap dengan garis tren linier untuk menyoroti arah umum pergerakan harga jangka panjang.</a:t>
            </a:r>
          </a:p>
          <a:p>
            <a:pPr algn="ctr" marL="334548" indent="-167274" lvl="1">
              <a:lnSpc>
                <a:spcPts val="2169"/>
              </a:lnSpc>
              <a:buAutoNum type="arabicPeriod" startAt="1"/>
            </a:pPr>
            <a:r>
              <a:rPr lang="en-US" b="true" sz="1549">
                <a:solidFill>
                  <a:srgbClr val="FFFFFF"/>
                </a:solidFill>
                <a:latin typeface="Open Sans Bold"/>
                <a:ea typeface="Open Sans Bold"/>
                <a:cs typeface="Open Sans Bold"/>
                <a:sym typeface="Open Sans Bold"/>
              </a:rPr>
              <a:t>2019:</a:t>
            </a:r>
          </a:p>
          <a:p>
            <a:pPr algn="ctr" marL="669095" indent="-223032" lvl="2">
              <a:lnSpc>
                <a:spcPts val="2169"/>
              </a:lnSpc>
              <a:buFont typeface="Arial"/>
              <a:buChar char="⚬"/>
            </a:pPr>
            <a:r>
              <a:rPr lang="en-US" b="true" sz="1549">
                <a:solidFill>
                  <a:srgbClr val="FFFFFF"/>
                </a:solidFill>
                <a:latin typeface="Open Sans Bold"/>
                <a:ea typeface="Open Sans Bold"/>
                <a:cs typeface="Open Sans Bold"/>
                <a:sym typeface="Open Sans Bold"/>
              </a:rPr>
              <a:t>Harga rata-rata sekitar $5.000, menandakan periode konsolidasi pasca-bear market 2018.</a:t>
            </a:r>
          </a:p>
          <a:p>
            <a:pPr algn="ctr" marL="669095" indent="-223032" lvl="2">
              <a:lnSpc>
                <a:spcPts val="2169"/>
              </a:lnSpc>
              <a:buFont typeface="Arial"/>
              <a:buChar char="⚬"/>
            </a:pPr>
            <a:r>
              <a:rPr lang="en-US" b="true" sz="1549">
                <a:solidFill>
                  <a:srgbClr val="FFFFFF"/>
                </a:solidFill>
                <a:latin typeface="Open Sans Bold"/>
                <a:ea typeface="Open Sans Bold"/>
                <a:cs typeface="Open Sans Bold"/>
                <a:sym typeface="Open Sans Bold"/>
              </a:rPr>
              <a:t>Investor masih berhati-hati, dan adopsi institusional baru mulai menampakkan diri.</a:t>
            </a:r>
          </a:p>
          <a:p>
            <a:pPr algn="ctr" marL="334548" indent="-167274" lvl="1">
              <a:lnSpc>
                <a:spcPts val="2169"/>
              </a:lnSpc>
              <a:buAutoNum type="arabicPeriod" startAt="1"/>
            </a:pPr>
            <a:r>
              <a:rPr lang="en-US" b="true" sz="1549">
                <a:solidFill>
                  <a:srgbClr val="FFFFFF"/>
                </a:solidFill>
                <a:latin typeface="Open Sans Bold"/>
                <a:ea typeface="Open Sans Bold"/>
                <a:cs typeface="Open Sans Bold"/>
                <a:sym typeface="Open Sans Bold"/>
              </a:rPr>
              <a:t>2020:</a:t>
            </a:r>
          </a:p>
          <a:p>
            <a:pPr algn="ctr" marL="669095" indent="-223032" lvl="2">
              <a:lnSpc>
                <a:spcPts val="2169"/>
              </a:lnSpc>
              <a:buFont typeface="Arial"/>
              <a:buChar char="⚬"/>
            </a:pPr>
            <a:r>
              <a:rPr lang="en-US" b="true" sz="1549">
                <a:solidFill>
                  <a:srgbClr val="FFFFFF"/>
                </a:solidFill>
                <a:latin typeface="Open Sans Bold"/>
                <a:ea typeface="Open Sans Bold"/>
                <a:cs typeface="Open Sans Bold"/>
                <a:sym typeface="Open Sans Bold"/>
              </a:rPr>
              <a:t>Naik dua kali lipat menjadi sekitar $10.000, termotivasi oleh sentimen safe-haven di tengah pandemi COVID-19.</a:t>
            </a:r>
          </a:p>
          <a:p>
            <a:pPr algn="ctr" marL="669095" indent="-223032" lvl="2">
              <a:lnSpc>
                <a:spcPts val="2169"/>
              </a:lnSpc>
              <a:buFont typeface="Arial"/>
              <a:buChar char="⚬"/>
            </a:pPr>
            <a:r>
              <a:rPr lang="en-US" b="true" sz="1549">
                <a:solidFill>
                  <a:srgbClr val="FFFFFF"/>
                </a:solidFill>
                <a:latin typeface="Open Sans Bold"/>
                <a:ea typeface="Open Sans Bold"/>
                <a:cs typeface="Open Sans Bold"/>
                <a:sym typeface="Open Sans Bold"/>
              </a:rPr>
              <a:t>Rangkaian stimulus fiskal dan moneter global meningkatkan likuiditas, mendorong permintaan aset alternatif seperti Bitcoin.</a:t>
            </a:r>
          </a:p>
          <a:p>
            <a:pPr algn="ctr" marL="334548" indent="-167274" lvl="1">
              <a:lnSpc>
                <a:spcPts val="2169"/>
              </a:lnSpc>
              <a:buAutoNum type="arabicPeriod" startAt="1"/>
            </a:pPr>
            <a:r>
              <a:rPr lang="en-US" b="true" sz="1549">
                <a:solidFill>
                  <a:srgbClr val="FFFFFF"/>
                </a:solidFill>
                <a:latin typeface="Open Sans Bold"/>
                <a:ea typeface="Open Sans Bold"/>
                <a:cs typeface="Open Sans Bold"/>
                <a:sym typeface="Open Sans Bold"/>
              </a:rPr>
              <a:t>2021:</a:t>
            </a:r>
          </a:p>
          <a:p>
            <a:pPr algn="ctr" marL="669095" indent="-223032" lvl="2">
              <a:lnSpc>
                <a:spcPts val="2169"/>
              </a:lnSpc>
              <a:buFont typeface="Arial"/>
              <a:buChar char="⚬"/>
            </a:pPr>
            <a:r>
              <a:rPr lang="en-US" b="true" sz="1549">
                <a:solidFill>
                  <a:srgbClr val="FFFFFF"/>
                </a:solidFill>
                <a:latin typeface="Open Sans Bold"/>
                <a:ea typeface="Open Sans Bold"/>
                <a:cs typeface="Open Sans Bold"/>
                <a:sym typeface="Open Sans Bold"/>
              </a:rPr>
              <a:t>Lonjakan spektakuler ke ~$45.000, mencerminkan puncak bull run.</a:t>
            </a:r>
          </a:p>
          <a:p>
            <a:pPr algn="ctr" marL="669095" indent="-223032" lvl="2">
              <a:lnSpc>
                <a:spcPts val="2169"/>
              </a:lnSpc>
              <a:buFont typeface="Arial"/>
              <a:buChar char="⚬"/>
            </a:pPr>
            <a:r>
              <a:rPr lang="en-US" b="true" sz="1549">
                <a:solidFill>
                  <a:srgbClr val="FFFFFF"/>
                </a:solidFill>
                <a:latin typeface="Open Sans Bold"/>
                <a:ea typeface="Open Sans Bold"/>
                <a:cs typeface="Open Sans Bold"/>
                <a:sym typeface="Open Sans Bold"/>
              </a:rPr>
              <a:t>Faktor pendorong: halving Mei 2020, masuknya dana institusi besar (Tesla, MicroStrategy), dan ekspektasi Bitcoin sebagai ‘emas digital’.</a:t>
            </a:r>
          </a:p>
          <a:p>
            <a:pPr algn="ctr">
              <a:lnSpc>
                <a:spcPts val="2169"/>
              </a:lnSpc>
            </a:pPr>
          </a:p>
        </p:txBody>
      </p:sp>
      <p:sp>
        <p:nvSpPr>
          <p:cNvPr name="TextBox 11" id="11"/>
          <p:cNvSpPr txBox="true"/>
          <p:nvPr/>
        </p:nvSpPr>
        <p:spPr>
          <a:xfrm rot="0">
            <a:off x="9353737" y="5771311"/>
            <a:ext cx="8253586" cy="4051912"/>
          </a:xfrm>
          <a:prstGeom prst="rect">
            <a:avLst/>
          </a:prstGeom>
        </p:spPr>
        <p:txBody>
          <a:bodyPr anchor="t" rtlCol="false" tIns="0" lIns="0" bIns="0" rIns="0">
            <a:spAutoFit/>
          </a:bodyPr>
          <a:lstStyle/>
          <a:p>
            <a:pPr algn="ctr" marL="331290" indent="-165645" lvl="1">
              <a:lnSpc>
                <a:spcPts val="2148"/>
              </a:lnSpc>
              <a:buFont typeface="Arial"/>
              <a:buChar char="•"/>
            </a:pPr>
            <a:r>
              <a:rPr lang="en-US" b="true" sz="1534">
                <a:solidFill>
                  <a:srgbClr val="FFFFFF"/>
                </a:solidFill>
                <a:latin typeface="Open Sans Bold"/>
                <a:ea typeface="Open Sans Bold"/>
                <a:cs typeface="Open Sans Bold"/>
                <a:sym typeface="Open Sans Bold"/>
              </a:rPr>
              <a:t>2022:</a:t>
            </a:r>
          </a:p>
          <a:p>
            <a:pPr algn="ctr" marL="331290" indent="-165645" lvl="1">
              <a:lnSpc>
                <a:spcPts val="2148"/>
              </a:lnSpc>
              <a:buFont typeface="Arial"/>
              <a:buChar char="•"/>
            </a:pPr>
            <a:r>
              <a:rPr lang="en-US" b="true" sz="1534">
                <a:solidFill>
                  <a:srgbClr val="FFFFFF"/>
                </a:solidFill>
                <a:latin typeface="Open Sans Bold"/>
                <a:ea typeface="Open Sans Bold"/>
                <a:cs typeface="Open Sans Bold"/>
                <a:sym typeface="Open Sans Bold"/>
              </a:rPr>
              <a:t>Turun kembali ke ~$25.000, akibat koreksi pasar global, kenaikan suku bunga AS, dan guncangan platform kripto besar.</a:t>
            </a:r>
          </a:p>
          <a:p>
            <a:pPr algn="ctr" marL="331290" indent="-165645" lvl="1">
              <a:lnSpc>
                <a:spcPts val="2148"/>
              </a:lnSpc>
              <a:buFont typeface="Arial"/>
              <a:buChar char="•"/>
            </a:pPr>
            <a:r>
              <a:rPr lang="en-US" b="true" sz="1534">
                <a:solidFill>
                  <a:srgbClr val="FFFFFF"/>
                </a:solidFill>
                <a:latin typeface="Open Sans Bold"/>
                <a:ea typeface="Open Sans Bold"/>
                <a:cs typeface="Open Sans Bold"/>
                <a:sym typeface="Open Sans Bold"/>
              </a:rPr>
              <a:t>Menunjukkan bahwa Bitcoin tetap rentan terhadap tren makroekonomi dan krisis likuiditas.</a:t>
            </a:r>
          </a:p>
          <a:p>
            <a:pPr algn="ctr" marL="331290" indent="-165645" lvl="1">
              <a:lnSpc>
                <a:spcPts val="2148"/>
              </a:lnSpc>
              <a:buFont typeface="Arial"/>
              <a:buChar char="•"/>
            </a:pPr>
            <a:r>
              <a:rPr lang="en-US" b="true" sz="1534">
                <a:solidFill>
                  <a:srgbClr val="FFFFFF"/>
                </a:solidFill>
                <a:latin typeface="Open Sans Bold"/>
                <a:ea typeface="Open Sans Bold"/>
                <a:cs typeface="Open Sans Bold"/>
                <a:sym typeface="Open Sans Bold"/>
              </a:rPr>
              <a:t>2023:</a:t>
            </a:r>
          </a:p>
          <a:p>
            <a:pPr algn="ctr" marL="331290" indent="-165645" lvl="1">
              <a:lnSpc>
                <a:spcPts val="2148"/>
              </a:lnSpc>
              <a:buFont typeface="Arial"/>
              <a:buChar char="•"/>
            </a:pPr>
            <a:r>
              <a:rPr lang="en-US" b="true" sz="1534">
                <a:solidFill>
                  <a:srgbClr val="FFFFFF"/>
                </a:solidFill>
                <a:latin typeface="Open Sans Bold"/>
                <a:ea typeface="Open Sans Bold"/>
                <a:cs typeface="Open Sans Bold"/>
                <a:sym typeface="Open Sans Bold"/>
              </a:rPr>
              <a:t>Mulai rebound moderat ke ~$28.000, pasar memasuki fase konsolidasi setelah koreksi parah.</a:t>
            </a:r>
          </a:p>
          <a:p>
            <a:pPr algn="ctr" marL="331290" indent="-165645" lvl="1">
              <a:lnSpc>
                <a:spcPts val="2148"/>
              </a:lnSpc>
              <a:buFont typeface="Arial"/>
              <a:buChar char="•"/>
            </a:pPr>
            <a:r>
              <a:rPr lang="en-US" b="true" sz="1534">
                <a:solidFill>
                  <a:srgbClr val="FFFFFF"/>
                </a:solidFill>
                <a:latin typeface="Open Sans Bold"/>
                <a:ea typeface="Open Sans Bold"/>
                <a:cs typeface="Open Sans Bold"/>
                <a:sym typeface="Open Sans Bold"/>
              </a:rPr>
              <a:t>Volatilitas masih cukup tinggi, namun sudah terlihat pola stabilisasi.</a:t>
            </a:r>
          </a:p>
          <a:p>
            <a:pPr algn="ctr" marL="331290" indent="-165645" lvl="1">
              <a:lnSpc>
                <a:spcPts val="2148"/>
              </a:lnSpc>
              <a:buFont typeface="Arial"/>
              <a:buChar char="•"/>
            </a:pPr>
            <a:r>
              <a:rPr lang="en-US" b="true" sz="1534">
                <a:solidFill>
                  <a:srgbClr val="FFFFFF"/>
                </a:solidFill>
                <a:latin typeface="Open Sans Bold"/>
                <a:ea typeface="Open Sans Bold"/>
                <a:cs typeface="Open Sans Bold"/>
                <a:sym typeface="Open Sans Bold"/>
              </a:rPr>
              <a:t>2024 (sampai April):</a:t>
            </a:r>
          </a:p>
          <a:p>
            <a:pPr algn="ctr" marL="331290" indent="-165645" lvl="1">
              <a:lnSpc>
                <a:spcPts val="2148"/>
              </a:lnSpc>
              <a:buFont typeface="Arial"/>
              <a:buChar char="•"/>
            </a:pPr>
            <a:r>
              <a:rPr lang="en-US" b="true" sz="1534">
                <a:solidFill>
                  <a:srgbClr val="FFFFFF"/>
                </a:solidFill>
                <a:latin typeface="Open Sans Bold"/>
                <a:ea typeface="Open Sans Bold"/>
                <a:cs typeface="Open Sans Bold"/>
                <a:sym typeface="Open Sans Bold"/>
              </a:rPr>
              <a:t>Meningkat lagi mendekati $42.000, menandakan kebangkitan ketertarikan investor jangka panjang.</a:t>
            </a:r>
          </a:p>
          <a:p>
            <a:pPr algn="ctr" marL="331290" indent="-165645" lvl="1">
              <a:lnSpc>
                <a:spcPts val="2148"/>
              </a:lnSpc>
              <a:buFont typeface="Arial"/>
              <a:buChar char="•"/>
            </a:pPr>
            <a:r>
              <a:rPr lang="en-US" b="true" sz="1534">
                <a:solidFill>
                  <a:srgbClr val="FFFFFF"/>
                </a:solidFill>
                <a:latin typeface="Open Sans Bold"/>
                <a:ea typeface="Open Sans Bold"/>
                <a:cs typeface="Open Sans Bold"/>
                <a:sym typeface="Open Sans Bold"/>
              </a:rPr>
              <a:t>Regulasi kripto yang lebih jelas dan adopsi institusional berkelanjutan memperkuat fondasi bullish.</a:t>
            </a:r>
          </a:p>
          <a:p>
            <a:pPr algn="ctr">
              <a:lnSpc>
                <a:spcPts val="2148"/>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33B5C"/>
        </a:solidFill>
      </p:bgPr>
    </p:bg>
    <p:spTree>
      <p:nvGrpSpPr>
        <p:cNvPr id="1" name=""/>
        <p:cNvGrpSpPr/>
        <p:nvPr/>
      </p:nvGrpSpPr>
      <p:grpSpPr>
        <a:xfrm>
          <a:off x="0" y="0"/>
          <a:ext cx="0" cy="0"/>
          <a:chOff x="0" y="0"/>
          <a:chExt cx="0" cy="0"/>
        </a:xfrm>
      </p:grpSpPr>
      <p:sp>
        <p:nvSpPr>
          <p:cNvPr name="Freeform 2" id="2"/>
          <p:cNvSpPr/>
          <p:nvPr/>
        </p:nvSpPr>
        <p:spPr>
          <a:xfrm flipH="false" flipV="false" rot="-5121831">
            <a:off x="3708813" y="-7310888"/>
            <a:ext cx="10232519" cy="19339812"/>
          </a:xfrm>
          <a:custGeom>
            <a:avLst/>
            <a:gdLst/>
            <a:ahLst/>
            <a:cxnLst/>
            <a:rect r="r" b="b" t="t" l="l"/>
            <a:pathLst>
              <a:path h="19339812" w="10232519">
                <a:moveTo>
                  <a:pt x="0" y="0"/>
                </a:moveTo>
                <a:lnTo>
                  <a:pt x="10232518" y="0"/>
                </a:lnTo>
                <a:lnTo>
                  <a:pt x="10232518" y="19339812"/>
                </a:lnTo>
                <a:lnTo>
                  <a:pt x="0" y="19339812"/>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76423" y="2920503"/>
            <a:ext cx="18440845" cy="8413653"/>
            <a:chOff x="0" y="0"/>
            <a:chExt cx="4856848" cy="2215941"/>
          </a:xfrm>
        </p:grpSpPr>
        <p:sp>
          <p:nvSpPr>
            <p:cNvPr name="Freeform 4" id="4"/>
            <p:cNvSpPr/>
            <p:nvPr/>
          </p:nvSpPr>
          <p:spPr>
            <a:xfrm flipH="false" flipV="false" rot="0">
              <a:off x="0" y="0"/>
              <a:ext cx="4856848" cy="2215941"/>
            </a:xfrm>
            <a:custGeom>
              <a:avLst/>
              <a:gdLst/>
              <a:ahLst/>
              <a:cxnLst/>
              <a:rect r="r" b="b" t="t" l="l"/>
              <a:pathLst>
                <a:path h="2215941" w="4856848">
                  <a:moveTo>
                    <a:pt x="0" y="0"/>
                  </a:moveTo>
                  <a:lnTo>
                    <a:pt x="4856848" y="0"/>
                  </a:lnTo>
                  <a:lnTo>
                    <a:pt x="4856848" y="2215941"/>
                  </a:lnTo>
                  <a:lnTo>
                    <a:pt x="0" y="2215941"/>
                  </a:lnTo>
                  <a:close/>
                </a:path>
              </a:pathLst>
            </a:custGeom>
            <a:solidFill>
              <a:srgbClr val="337B92"/>
            </a:solidFill>
            <a:ln cap="sq">
              <a:noFill/>
              <a:prstDash val="solid"/>
              <a:miter/>
            </a:ln>
          </p:spPr>
        </p:sp>
        <p:sp>
          <p:nvSpPr>
            <p:cNvPr name="TextBox 5" id="5"/>
            <p:cNvSpPr txBox="true"/>
            <p:nvPr/>
          </p:nvSpPr>
          <p:spPr>
            <a:xfrm>
              <a:off x="0" y="-38100"/>
              <a:ext cx="4856848" cy="2254041"/>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9000792" y="1146711"/>
            <a:ext cx="8662746" cy="3375988"/>
            <a:chOff x="0" y="0"/>
            <a:chExt cx="2470631" cy="962838"/>
          </a:xfrm>
        </p:grpSpPr>
        <p:sp>
          <p:nvSpPr>
            <p:cNvPr name="Freeform 7" id="7"/>
            <p:cNvSpPr/>
            <p:nvPr/>
          </p:nvSpPr>
          <p:spPr>
            <a:xfrm flipH="false" flipV="false" rot="0">
              <a:off x="0" y="0"/>
              <a:ext cx="2470631" cy="962838"/>
            </a:xfrm>
            <a:custGeom>
              <a:avLst/>
              <a:gdLst/>
              <a:ahLst/>
              <a:cxnLst/>
              <a:rect r="r" b="b" t="t" l="l"/>
              <a:pathLst>
                <a:path h="962838" w="2470631">
                  <a:moveTo>
                    <a:pt x="0" y="0"/>
                  </a:moveTo>
                  <a:lnTo>
                    <a:pt x="2470631" y="0"/>
                  </a:lnTo>
                  <a:lnTo>
                    <a:pt x="2470631" y="962838"/>
                  </a:lnTo>
                  <a:lnTo>
                    <a:pt x="0" y="962838"/>
                  </a:lnTo>
                  <a:close/>
                </a:path>
              </a:pathLst>
            </a:custGeom>
            <a:blipFill>
              <a:blip r:embed="rId4"/>
              <a:stretch>
                <a:fillRect l="0" t="-446" r="0" b="-446"/>
              </a:stretch>
            </a:blipFill>
          </p:spPr>
        </p:sp>
      </p:grpSp>
      <p:sp>
        <p:nvSpPr>
          <p:cNvPr name="AutoShape 8" id="8"/>
          <p:cNvSpPr/>
          <p:nvPr/>
        </p:nvSpPr>
        <p:spPr>
          <a:xfrm>
            <a:off x="999498" y="9277350"/>
            <a:ext cx="16259802" cy="0"/>
          </a:xfrm>
          <a:prstGeom prst="line">
            <a:avLst/>
          </a:prstGeom>
          <a:ln cap="flat" w="38100">
            <a:solidFill>
              <a:srgbClr val="FFFFFF"/>
            </a:solidFill>
            <a:prstDash val="solid"/>
            <a:headEnd type="none" len="sm" w="sm"/>
            <a:tailEnd type="none" len="sm" w="sm"/>
          </a:ln>
        </p:spPr>
      </p:sp>
      <p:sp>
        <p:nvSpPr>
          <p:cNvPr name="TextBox 9" id="9"/>
          <p:cNvSpPr txBox="true"/>
          <p:nvPr/>
        </p:nvSpPr>
        <p:spPr>
          <a:xfrm rot="0">
            <a:off x="-76423" y="547998"/>
            <a:ext cx="9077214" cy="1811020"/>
          </a:xfrm>
          <a:prstGeom prst="rect">
            <a:avLst/>
          </a:prstGeom>
        </p:spPr>
        <p:txBody>
          <a:bodyPr anchor="t" rtlCol="false" tIns="0" lIns="0" bIns="0" rIns="0">
            <a:spAutoFit/>
          </a:bodyPr>
          <a:lstStyle/>
          <a:p>
            <a:pPr algn="ctr">
              <a:lnSpc>
                <a:spcPts val="7279"/>
              </a:lnSpc>
            </a:pPr>
            <a:r>
              <a:rPr lang="en-US" b="true" sz="5199">
                <a:solidFill>
                  <a:srgbClr val="FFFFFF"/>
                </a:solidFill>
                <a:latin typeface="Open Sans Bold"/>
                <a:ea typeface="Open Sans Bold"/>
                <a:cs typeface="Open Sans Bold"/>
                <a:sym typeface="Open Sans Bold"/>
              </a:rPr>
              <a:t>Rata-rata Harga BTC Per Bulan</a:t>
            </a:r>
          </a:p>
        </p:txBody>
      </p:sp>
      <p:sp>
        <p:nvSpPr>
          <p:cNvPr name="TextBox 10" id="10"/>
          <p:cNvSpPr txBox="true"/>
          <p:nvPr/>
        </p:nvSpPr>
        <p:spPr>
          <a:xfrm rot="0">
            <a:off x="403151" y="3085059"/>
            <a:ext cx="8421921" cy="1656715"/>
          </a:xfrm>
          <a:prstGeom prst="rect">
            <a:avLst/>
          </a:prstGeom>
        </p:spPr>
        <p:txBody>
          <a:bodyPr anchor="t" rtlCol="false" tIns="0" lIns="0" bIns="0" rIns="0">
            <a:spAutoFit/>
          </a:bodyPr>
          <a:lstStyle/>
          <a:p>
            <a:pPr algn="ctr">
              <a:lnSpc>
                <a:spcPts val="2659"/>
              </a:lnSpc>
              <a:spcBef>
                <a:spcPct val="0"/>
              </a:spcBef>
            </a:pPr>
            <a:r>
              <a:rPr lang="en-US" b="true" sz="1899">
                <a:solidFill>
                  <a:srgbClr val="FFFFFF"/>
                </a:solidFill>
                <a:latin typeface="Canva Sans Bold"/>
                <a:ea typeface="Canva Sans Bold"/>
                <a:cs typeface="Canva Sans Bold"/>
                <a:sym typeface="Canva Sans Bold"/>
              </a:rPr>
              <a:t>Slide ini menampilkan area chart yang menggambarkan perubahan rata-rata harga penutupan Bitcoin untuk setiap bulan dari Januari 2019 hingga Februari 2024. Warna batang semakin gelap menandakan tahun yang lebih baru (2019 paling terang, 2024 paling gelap). Beberapa poin penting:</a:t>
            </a:r>
          </a:p>
        </p:txBody>
      </p:sp>
      <p:sp>
        <p:nvSpPr>
          <p:cNvPr name="TextBox 11" id="11"/>
          <p:cNvSpPr txBox="true"/>
          <p:nvPr/>
        </p:nvSpPr>
        <p:spPr>
          <a:xfrm rot="0">
            <a:off x="232476" y="5014391"/>
            <a:ext cx="9870005" cy="3447734"/>
          </a:xfrm>
          <a:prstGeom prst="rect">
            <a:avLst/>
          </a:prstGeom>
        </p:spPr>
        <p:txBody>
          <a:bodyPr anchor="t" rtlCol="false" tIns="0" lIns="0" bIns="0" rIns="0">
            <a:spAutoFit/>
          </a:bodyPr>
          <a:lstStyle/>
          <a:p>
            <a:pPr algn="ctr" marL="422002" indent="-211001" lvl="1">
              <a:lnSpc>
                <a:spcPts val="2736"/>
              </a:lnSpc>
              <a:buFont typeface="Arial"/>
              <a:buChar char="•"/>
            </a:pPr>
            <a:r>
              <a:rPr lang="en-US" b="true" sz="1954">
                <a:solidFill>
                  <a:srgbClr val="FFFFFF"/>
                </a:solidFill>
                <a:latin typeface="Open Sans Bold"/>
                <a:ea typeface="Open Sans Bold"/>
                <a:cs typeface="Open Sans Bold"/>
                <a:sym typeface="Open Sans Bold"/>
              </a:rPr>
              <a:t>Konsolidasi Pra-Bull Run (2019–Awal 2020):</a:t>
            </a:r>
          </a:p>
          <a:p>
            <a:pPr algn="ctr" marL="422002" indent="-211001" lvl="1">
              <a:lnSpc>
                <a:spcPts val="2736"/>
              </a:lnSpc>
              <a:buFont typeface="Arial"/>
              <a:buChar char="•"/>
            </a:pPr>
            <a:r>
              <a:rPr lang="en-US" b="true" sz="1954">
                <a:solidFill>
                  <a:srgbClr val="FFFFFF"/>
                </a:solidFill>
                <a:latin typeface="Open Sans Bold"/>
                <a:ea typeface="Open Sans Bold"/>
                <a:cs typeface="Open Sans Bold"/>
                <a:sym typeface="Open Sans Bold"/>
              </a:rPr>
              <a:t>Harga rata-rata bulanan bergerak di rentang $3.000–$10.000, dengan fluktuasi ringan antara bulan ke bulan.</a:t>
            </a:r>
          </a:p>
          <a:p>
            <a:pPr algn="ctr" marL="422002" indent="-211001" lvl="1">
              <a:lnSpc>
                <a:spcPts val="2736"/>
              </a:lnSpc>
              <a:buFont typeface="Arial"/>
              <a:buChar char="•"/>
            </a:pPr>
            <a:r>
              <a:rPr lang="en-US" b="true" sz="1954">
                <a:solidFill>
                  <a:srgbClr val="FFFFFF"/>
                </a:solidFill>
                <a:latin typeface="Open Sans Bold"/>
                <a:ea typeface="Open Sans Bold"/>
                <a:cs typeface="Open Sans Bold"/>
                <a:sym typeface="Open Sans Bold"/>
              </a:rPr>
              <a:t>Tidak ada lonjakan signifikan; pasar masih beradaptasi pasca-bear market.</a:t>
            </a:r>
          </a:p>
          <a:p>
            <a:pPr algn="ctr" marL="422002" indent="-211001" lvl="1">
              <a:lnSpc>
                <a:spcPts val="2736"/>
              </a:lnSpc>
              <a:buFont typeface="Arial"/>
              <a:buChar char="•"/>
            </a:pPr>
            <a:r>
              <a:rPr lang="en-US" b="true" sz="1954">
                <a:solidFill>
                  <a:srgbClr val="FFFFFF"/>
                </a:solidFill>
                <a:latin typeface="Open Sans Bold"/>
                <a:ea typeface="Open Sans Bold"/>
                <a:cs typeface="Open Sans Bold"/>
                <a:sym typeface="Open Sans Bold"/>
              </a:rPr>
              <a:t>Awal Bull Run &amp; Volatilitas Meningkat (Pertengahan 2020–2021):</a:t>
            </a:r>
          </a:p>
          <a:p>
            <a:pPr algn="ctr" marL="422002" indent="-211001" lvl="1">
              <a:lnSpc>
                <a:spcPts val="2736"/>
              </a:lnSpc>
              <a:buFont typeface="Arial"/>
              <a:buChar char="•"/>
            </a:pPr>
            <a:r>
              <a:rPr lang="en-US" b="true" sz="1954">
                <a:solidFill>
                  <a:srgbClr val="FFFFFF"/>
                </a:solidFill>
                <a:latin typeface="Open Sans Bold"/>
                <a:ea typeface="Open Sans Bold"/>
                <a:cs typeface="Open Sans Bold"/>
                <a:sym typeface="Open Sans Bold"/>
              </a:rPr>
              <a:t>Mulai November 2020, area chart menanjak tajam hingga puncaknya di April–Mei 2021 (mendekati $60–$65K).</a:t>
            </a:r>
          </a:p>
          <a:p>
            <a:pPr algn="ctr" marL="422002" indent="-211001" lvl="1">
              <a:lnSpc>
                <a:spcPts val="2736"/>
              </a:lnSpc>
              <a:buFont typeface="Arial"/>
              <a:buChar char="•"/>
            </a:pPr>
            <a:r>
              <a:rPr lang="en-US" b="true" sz="1954">
                <a:solidFill>
                  <a:srgbClr val="FFFFFF"/>
                </a:solidFill>
                <a:latin typeface="Open Sans Bold"/>
                <a:ea typeface="Open Sans Bold"/>
                <a:cs typeface="Open Sans Bold"/>
                <a:sym typeface="Open Sans Bold"/>
              </a:rPr>
              <a:t>Setiap batang bulanan pada tahun 2021 sangat tinggi, mengindikasikan lonjakan sentimen dan adopsi institusional.</a:t>
            </a:r>
          </a:p>
          <a:p>
            <a:pPr algn="ctr">
              <a:lnSpc>
                <a:spcPts val="2736"/>
              </a:lnSpc>
            </a:pPr>
          </a:p>
        </p:txBody>
      </p:sp>
      <p:sp>
        <p:nvSpPr>
          <p:cNvPr name="TextBox 12" id="12"/>
          <p:cNvSpPr txBox="true"/>
          <p:nvPr/>
        </p:nvSpPr>
        <p:spPr>
          <a:xfrm rot="0">
            <a:off x="9916515" y="4713199"/>
            <a:ext cx="7087928" cy="4327983"/>
          </a:xfrm>
          <a:prstGeom prst="rect">
            <a:avLst/>
          </a:prstGeom>
        </p:spPr>
        <p:txBody>
          <a:bodyPr anchor="t" rtlCol="false" tIns="0" lIns="0" bIns="0" rIns="0">
            <a:spAutoFit/>
          </a:bodyPr>
          <a:lstStyle/>
          <a:p>
            <a:pPr algn="ctr" marL="379572" indent="-189786" lvl="1">
              <a:lnSpc>
                <a:spcPts val="2461"/>
              </a:lnSpc>
              <a:buFont typeface="Arial"/>
              <a:buChar char="•"/>
            </a:pPr>
            <a:r>
              <a:rPr lang="en-US" b="true" sz="1758">
                <a:solidFill>
                  <a:srgbClr val="FFFFFF"/>
                </a:solidFill>
                <a:latin typeface="Open Sans Bold"/>
                <a:ea typeface="Open Sans Bold"/>
                <a:cs typeface="Open Sans Bold"/>
                <a:sym typeface="Open Sans Bold"/>
              </a:rPr>
              <a:t>Koreksi dan Konsolidasi (2022):</a:t>
            </a:r>
          </a:p>
          <a:p>
            <a:pPr algn="ctr" marL="379572" indent="-189786" lvl="1">
              <a:lnSpc>
                <a:spcPts val="2461"/>
              </a:lnSpc>
              <a:buFont typeface="Arial"/>
              <a:buChar char="•"/>
            </a:pPr>
            <a:r>
              <a:rPr lang="en-US" b="true" sz="1758">
                <a:solidFill>
                  <a:srgbClr val="FFFFFF"/>
                </a:solidFill>
                <a:latin typeface="Open Sans Bold"/>
                <a:ea typeface="Open Sans Bold"/>
                <a:cs typeface="Open Sans Bold"/>
                <a:sym typeface="Open Sans Bold"/>
              </a:rPr>
              <a:t>Rata-rata harga bulanan turun drastis di awal 2022, dari $40K ke kisaran $20K–$30K.</a:t>
            </a:r>
          </a:p>
          <a:p>
            <a:pPr algn="ctr" marL="379572" indent="-189786" lvl="1">
              <a:lnSpc>
                <a:spcPts val="2461"/>
              </a:lnSpc>
              <a:buFont typeface="Arial"/>
              <a:buChar char="•"/>
            </a:pPr>
            <a:r>
              <a:rPr lang="en-US" b="true" sz="1758">
                <a:solidFill>
                  <a:srgbClr val="FFFFFF"/>
                </a:solidFill>
                <a:latin typeface="Open Sans Bold"/>
                <a:ea typeface="Open Sans Bold"/>
                <a:cs typeface="Open Sans Bold"/>
                <a:sym typeface="Open Sans Bold"/>
              </a:rPr>
              <a:t>Fluktuasi harga masih ada, n</a:t>
            </a:r>
            <a:r>
              <a:rPr lang="en-US" b="true" sz="1758">
                <a:solidFill>
                  <a:srgbClr val="FFFFFF"/>
                </a:solidFill>
                <a:latin typeface="Open Sans Bold"/>
                <a:ea typeface="Open Sans Bold"/>
                <a:cs typeface="Open Sans Bold"/>
                <a:sym typeface="Open Sans Bold"/>
              </a:rPr>
              <a:t>amun batang area lebih pendek dibanding 2021, menandakan pasar memasuki fase konsolidasi setelah koreksi besar.</a:t>
            </a:r>
          </a:p>
          <a:p>
            <a:pPr algn="ctr" marL="379572" indent="-189786" lvl="1">
              <a:lnSpc>
                <a:spcPts val="2461"/>
              </a:lnSpc>
              <a:buFont typeface="Arial"/>
              <a:buChar char="•"/>
            </a:pPr>
            <a:r>
              <a:rPr lang="en-US" b="true" sz="1758">
                <a:solidFill>
                  <a:srgbClr val="FFFFFF"/>
                </a:solidFill>
                <a:latin typeface="Open Sans Bold"/>
                <a:ea typeface="Open Sans Bold"/>
                <a:cs typeface="Open Sans Bold"/>
                <a:sym typeface="Open Sans Bold"/>
              </a:rPr>
              <a:t>Pemulihan Bertahap (2023–Awal 2024):</a:t>
            </a:r>
          </a:p>
          <a:p>
            <a:pPr algn="ctr" marL="379572" indent="-189786" lvl="1">
              <a:lnSpc>
                <a:spcPts val="2461"/>
              </a:lnSpc>
              <a:buFont typeface="Arial"/>
              <a:buChar char="•"/>
            </a:pPr>
            <a:r>
              <a:rPr lang="en-US" b="true" sz="1758">
                <a:solidFill>
                  <a:srgbClr val="FFFFFF"/>
                </a:solidFill>
                <a:latin typeface="Open Sans Bold"/>
                <a:ea typeface="Open Sans Bold"/>
                <a:cs typeface="Open Sans Bold"/>
                <a:sym typeface="Open Sans Bold"/>
              </a:rPr>
              <a:t>Sejak pertengahan 2023, rata-rata harga bulanan menunjukkan tren naik perlahan, menyentuh $40K lagi pada Februari 2024.</a:t>
            </a:r>
          </a:p>
          <a:p>
            <a:pPr algn="ctr" marL="379572" indent="-189786" lvl="1">
              <a:lnSpc>
                <a:spcPts val="2461"/>
              </a:lnSpc>
              <a:buFont typeface="Arial"/>
              <a:buChar char="•"/>
            </a:pPr>
            <a:r>
              <a:rPr lang="en-US" b="true" sz="1758">
                <a:solidFill>
                  <a:srgbClr val="FFFFFF"/>
                </a:solidFill>
                <a:latin typeface="Open Sans Bold"/>
                <a:ea typeface="Open Sans Bold"/>
                <a:cs typeface="Open Sans Bold"/>
                <a:sym typeface="Open Sans Bold"/>
              </a:rPr>
              <a:t>Meningkatnya tinggi batang pada bulan-bulan terbaru menandakan optimisme investor jangka panjang dan kematangan regulasi kripto.</a:t>
            </a:r>
          </a:p>
          <a:p>
            <a:pPr algn="ctr">
              <a:lnSpc>
                <a:spcPts val="2461"/>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33B5C"/>
        </a:solidFill>
      </p:bgPr>
    </p:bg>
    <p:spTree>
      <p:nvGrpSpPr>
        <p:cNvPr id="1" name=""/>
        <p:cNvGrpSpPr/>
        <p:nvPr/>
      </p:nvGrpSpPr>
      <p:grpSpPr>
        <a:xfrm>
          <a:off x="0" y="0"/>
          <a:ext cx="0" cy="0"/>
          <a:chOff x="0" y="0"/>
          <a:chExt cx="0" cy="0"/>
        </a:xfrm>
      </p:grpSpPr>
      <p:sp>
        <p:nvSpPr>
          <p:cNvPr name="Freeform 2" id="2"/>
          <p:cNvSpPr/>
          <p:nvPr/>
        </p:nvSpPr>
        <p:spPr>
          <a:xfrm flipH="false" flipV="false" rot="-5714398">
            <a:off x="3708813" y="-1995692"/>
            <a:ext cx="10232519" cy="19339812"/>
          </a:xfrm>
          <a:custGeom>
            <a:avLst/>
            <a:gdLst/>
            <a:ahLst/>
            <a:cxnLst/>
            <a:rect r="r" b="b" t="t" l="l"/>
            <a:pathLst>
              <a:path h="19339812" w="10232519">
                <a:moveTo>
                  <a:pt x="0" y="0"/>
                </a:moveTo>
                <a:lnTo>
                  <a:pt x="10232518" y="0"/>
                </a:lnTo>
                <a:lnTo>
                  <a:pt x="10232518" y="19339812"/>
                </a:lnTo>
                <a:lnTo>
                  <a:pt x="0" y="19339812"/>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76423" y="1696209"/>
            <a:ext cx="18440845" cy="8590791"/>
            <a:chOff x="0" y="0"/>
            <a:chExt cx="4856848" cy="2262595"/>
          </a:xfrm>
        </p:grpSpPr>
        <p:sp>
          <p:nvSpPr>
            <p:cNvPr name="Freeform 4" id="4"/>
            <p:cNvSpPr/>
            <p:nvPr/>
          </p:nvSpPr>
          <p:spPr>
            <a:xfrm flipH="false" flipV="false" rot="0">
              <a:off x="0" y="0"/>
              <a:ext cx="4856848" cy="2262595"/>
            </a:xfrm>
            <a:custGeom>
              <a:avLst/>
              <a:gdLst/>
              <a:ahLst/>
              <a:cxnLst/>
              <a:rect r="r" b="b" t="t" l="l"/>
              <a:pathLst>
                <a:path h="2262595" w="4856848">
                  <a:moveTo>
                    <a:pt x="0" y="0"/>
                  </a:moveTo>
                  <a:lnTo>
                    <a:pt x="4856848" y="0"/>
                  </a:lnTo>
                  <a:lnTo>
                    <a:pt x="4856848" y="2262595"/>
                  </a:lnTo>
                  <a:lnTo>
                    <a:pt x="0" y="2262595"/>
                  </a:lnTo>
                  <a:close/>
                </a:path>
              </a:pathLst>
            </a:custGeom>
            <a:solidFill>
              <a:srgbClr val="337B92"/>
            </a:solidFill>
            <a:ln cap="sq">
              <a:noFill/>
              <a:prstDash val="solid"/>
              <a:miter/>
            </a:ln>
          </p:spPr>
        </p:sp>
        <p:sp>
          <p:nvSpPr>
            <p:cNvPr name="TextBox 5" id="5"/>
            <p:cNvSpPr txBox="true"/>
            <p:nvPr/>
          </p:nvSpPr>
          <p:spPr>
            <a:xfrm>
              <a:off x="0" y="-38100"/>
              <a:ext cx="4856848" cy="2300695"/>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668219" y="1028700"/>
            <a:ext cx="5576117" cy="4674130"/>
            <a:chOff x="0" y="0"/>
            <a:chExt cx="1776817" cy="1489401"/>
          </a:xfrm>
        </p:grpSpPr>
        <p:sp>
          <p:nvSpPr>
            <p:cNvPr name="Freeform 7" id="7"/>
            <p:cNvSpPr/>
            <p:nvPr/>
          </p:nvSpPr>
          <p:spPr>
            <a:xfrm flipH="false" flipV="false" rot="0">
              <a:off x="0" y="0"/>
              <a:ext cx="1776817" cy="1489401"/>
            </a:xfrm>
            <a:custGeom>
              <a:avLst/>
              <a:gdLst/>
              <a:ahLst/>
              <a:cxnLst/>
              <a:rect r="r" b="b" t="t" l="l"/>
              <a:pathLst>
                <a:path h="1489401" w="1776817">
                  <a:moveTo>
                    <a:pt x="0" y="0"/>
                  </a:moveTo>
                  <a:lnTo>
                    <a:pt x="1776817" y="0"/>
                  </a:lnTo>
                  <a:lnTo>
                    <a:pt x="1776817" y="1489401"/>
                  </a:lnTo>
                  <a:lnTo>
                    <a:pt x="0" y="1489401"/>
                  </a:lnTo>
                  <a:close/>
                </a:path>
              </a:pathLst>
            </a:custGeom>
            <a:blipFill>
              <a:blip r:embed="rId4"/>
              <a:stretch>
                <a:fillRect l="0" t="-166" r="0" b="-166"/>
              </a:stretch>
            </a:blipFill>
          </p:spPr>
        </p:sp>
      </p:grpSp>
      <p:sp>
        <p:nvSpPr>
          <p:cNvPr name="TextBox 8" id="8"/>
          <p:cNvSpPr txBox="true"/>
          <p:nvPr/>
        </p:nvSpPr>
        <p:spPr>
          <a:xfrm rot="0">
            <a:off x="8825072" y="743074"/>
            <a:ext cx="7647243" cy="1811020"/>
          </a:xfrm>
          <a:prstGeom prst="rect">
            <a:avLst/>
          </a:prstGeom>
        </p:spPr>
        <p:txBody>
          <a:bodyPr anchor="t" rtlCol="false" tIns="0" lIns="0" bIns="0" rIns="0">
            <a:spAutoFit/>
          </a:bodyPr>
          <a:lstStyle/>
          <a:p>
            <a:pPr algn="ctr">
              <a:lnSpc>
                <a:spcPts val="7279"/>
              </a:lnSpc>
            </a:pPr>
            <a:r>
              <a:rPr lang="en-US" sz="5199" b="true">
                <a:solidFill>
                  <a:srgbClr val="FFFFFF"/>
                </a:solidFill>
                <a:latin typeface="Open Sans Bold"/>
                <a:ea typeface="Open Sans Bold"/>
                <a:cs typeface="Open Sans Bold"/>
                <a:sym typeface="Open Sans Bold"/>
              </a:rPr>
              <a:t>Korel</a:t>
            </a:r>
            <a:r>
              <a:rPr lang="en-US" b="true" sz="5199">
                <a:solidFill>
                  <a:srgbClr val="FFFFFF"/>
                </a:solidFill>
                <a:latin typeface="Open Sans Bold"/>
                <a:ea typeface="Open Sans Bold"/>
                <a:cs typeface="Open Sans Bold"/>
                <a:sym typeface="Open Sans Bold"/>
              </a:rPr>
              <a:t>asi Harga vs Volume Bitcoin</a:t>
            </a:r>
          </a:p>
        </p:txBody>
      </p:sp>
      <p:sp>
        <p:nvSpPr>
          <p:cNvPr name="TextBox 9" id="9"/>
          <p:cNvSpPr txBox="true"/>
          <p:nvPr/>
        </p:nvSpPr>
        <p:spPr>
          <a:xfrm rot="0">
            <a:off x="7067248" y="2801145"/>
            <a:ext cx="9144000" cy="2342355"/>
          </a:xfrm>
          <a:prstGeom prst="rect">
            <a:avLst/>
          </a:prstGeom>
        </p:spPr>
        <p:txBody>
          <a:bodyPr anchor="t" rtlCol="false" tIns="0" lIns="0" bIns="0" rIns="0">
            <a:spAutoFit/>
          </a:bodyPr>
          <a:lstStyle/>
          <a:p>
            <a:pPr algn="ctr">
              <a:lnSpc>
                <a:spcPts val="3108"/>
              </a:lnSpc>
            </a:pPr>
            <a:r>
              <a:rPr lang="en-US" sz="2220" b="true">
                <a:solidFill>
                  <a:srgbClr val="FFFFFF"/>
                </a:solidFill>
                <a:latin typeface="Open Sans Bold"/>
                <a:ea typeface="Open Sans Bold"/>
                <a:cs typeface="Open Sans Bold"/>
                <a:sym typeface="Open Sans Bold"/>
              </a:rPr>
              <a:t>Slide ini adal</a:t>
            </a:r>
            <a:r>
              <a:rPr lang="en-US" b="true" sz="2220">
                <a:solidFill>
                  <a:srgbClr val="FFFFFF"/>
                </a:solidFill>
                <a:latin typeface="Open Sans Bold"/>
                <a:ea typeface="Open Sans Bold"/>
                <a:cs typeface="Open Sans Bold"/>
                <a:sym typeface="Open Sans Bold"/>
              </a:rPr>
              <a:t>ah scatter plot yang memetakan hubungan antara rata-rata harga penutupan (Avg. Close) di sumbu X dan rata-rata volume perdagangan (Avg. Volume) di sumbu Y, untuk setiap bulan sepanjang 2019–2024. Titik-titik berwarna oranye ke coklat tua menunjukkan tahun yang lebih baru, sementara garis regresi linier memperlihatkan kecenderungan umum.</a:t>
            </a:r>
          </a:p>
        </p:txBody>
      </p:sp>
      <p:sp>
        <p:nvSpPr>
          <p:cNvPr name="TextBox 10" id="10"/>
          <p:cNvSpPr txBox="true"/>
          <p:nvPr/>
        </p:nvSpPr>
        <p:spPr>
          <a:xfrm rot="0">
            <a:off x="6768618" y="5410200"/>
            <a:ext cx="9442630" cy="4011857"/>
          </a:xfrm>
          <a:prstGeom prst="rect">
            <a:avLst/>
          </a:prstGeom>
        </p:spPr>
        <p:txBody>
          <a:bodyPr anchor="t" rtlCol="false" tIns="0" lIns="0" bIns="0" rIns="0">
            <a:spAutoFit/>
          </a:bodyPr>
          <a:lstStyle/>
          <a:p>
            <a:pPr algn="ctr" marL="379016" indent="-189508" lvl="1">
              <a:lnSpc>
                <a:spcPts val="2457"/>
              </a:lnSpc>
              <a:buFont typeface="Arial"/>
              <a:buChar char="•"/>
            </a:pPr>
            <a:r>
              <a:rPr lang="en-US" b="true" sz="1755">
                <a:solidFill>
                  <a:srgbClr val="FFFFFF"/>
                </a:solidFill>
                <a:latin typeface="Open Sans Bold"/>
                <a:ea typeface="Open Sans Bold"/>
                <a:cs typeface="Open Sans Bold"/>
                <a:sym typeface="Open Sans Bold"/>
              </a:rPr>
              <a:t>Hubungan Positif Moderat:</a:t>
            </a:r>
          </a:p>
          <a:p>
            <a:pPr algn="ctr" marL="379016" indent="-189508" lvl="1">
              <a:lnSpc>
                <a:spcPts val="2457"/>
              </a:lnSpc>
              <a:buFont typeface="Arial"/>
              <a:buChar char="•"/>
            </a:pPr>
            <a:r>
              <a:rPr lang="en-US" b="true" sz="1755">
                <a:solidFill>
                  <a:srgbClr val="FFFFFF"/>
                </a:solidFill>
                <a:latin typeface="Open Sans Bold"/>
                <a:ea typeface="Open Sans Bold"/>
                <a:cs typeface="Open Sans Bold"/>
                <a:sym typeface="Open Sans Bold"/>
              </a:rPr>
              <a:t>Secara umum, sem</a:t>
            </a:r>
            <a:r>
              <a:rPr lang="en-US" b="true" sz="1755">
                <a:solidFill>
                  <a:srgbClr val="FFFFFF"/>
                </a:solidFill>
                <a:latin typeface="Open Sans Bold"/>
                <a:ea typeface="Open Sans Bold"/>
                <a:cs typeface="Open Sans Bold"/>
                <a:sym typeface="Open Sans Bold"/>
              </a:rPr>
              <a:t>akin tinggi harga, semakin besar volume yang diperdagangkan. Hal ini tercermin dari kemiringan positif garis regresi.</a:t>
            </a:r>
          </a:p>
          <a:p>
            <a:pPr algn="ctr" marL="379016" indent="-189508" lvl="1">
              <a:lnSpc>
                <a:spcPts val="2457"/>
              </a:lnSpc>
              <a:buFont typeface="Arial"/>
              <a:buChar char="•"/>
            </a:pPr>
            <a:r>
              <a:rPr lang="en-US" b="true" sz="1755">
                <a:solidFill>
                  <a:srgbClr val="FFFFFF"/>
                </a:solidFill>
                <a:latin typeface="Open Sans Bold"/>
                <a:ea typeface="Open Sans Bold"/>
                <a:cs typeface="Open Sans Bold"/>
                <a:sym typeface="Open Sans Bold"/>
              </a:rPr>
              <a:t>Ini menandakan bahwa puncak harga biasanya disertai lonjakan aktivitas trading.</a:t>
            </a:r>
          </a:p>
          <a:p>
            <a:pPr algn="ctr" marL="379016" indent="-189508" lvl="1">
              <a:lnSpc>
                <a:spcPts val="2457"/>
              </a:lnSpc>
              <a:buFont typeface="Arial"/>
              <a:buChar char="•"/>
            </a:pPr>
            <a:r>
              <a:rPr lang="en-US" b="true" sz="1755">
                <a:solidFill>
                  <a:srgbClr val="FFFFFF"/>
                </a:solidFill>
                <a:latin typeface="Open Sans Bold"/>
                <a:ea typeface="Open Sans Bold"/>
                <a:cs typeface="Open Sans Bold"/>
                <a:sym typeface="Open Sans Bold"/>
              </a:rPr>
              <a:t>Outlier &amp; Momentum Pasar:</a:t>
            </a:r>
          </a:p>
          <a:p>
            <a:pPr algn="ctr" marL="379016" indent="-189508" lvl="1">
              <a:lnSpc>
                <a:spcPts val="2457"/>
              </a:lnSpc>
              <a:buFont typeface="Arial"/>
              <a:buChar char="•"/>
            </a:pPr>
            <a:r>
              <a:rPr lang="en-US" b="true" sz="1755">
                <a:solidFill>
                  <a:srgbClr val="FFFFFF"/>
                </a:solidFill>
                <a:latin typeface="Open Sans Bold"/>
                <a:ea typeface="Open Sans Bold"/>
                <a:cs typeface="Open Sans Bold"/>
                <a:sym typeface="Open Sans Bold"/>
              </a:rPr>
              <a:t>Bulan-bulan di puncak bull run 2021 (warna oranye gelap) terletak di pojok kanan atas—mengindikasikan harga tertinggi ~$45K–$50K dengan volume &gt;40 miliar USD.</a:t>
            </a:r>
          </a:p>
          <a:p>
            <a:pPr algn="ctr" marL="379016" indent="-189508" lvl="1">
              <a:lnSpc>
                <a:spcPts val="2457"/>
              </a:lnSpc>
              <a:buFont typeface="Arial"/>
              <a:buChar char="•"/>
            </a:pPr>
            <a:r>
              <a:rPr lang="en-US" b="true" sz="1755">
                <a:solidFill>
                  <a:srgbClr val="FFFFFF"/>
                </a:solidFill>
                <a:latin typeface="Open Sans Bold"/>
                <a:ea typeface="Open Sans Bold"/>
                <a:cs typeface="Open Sans Bold"/>
                <a:sym typeface="Open Sans Bold"/>
              </a:rPr>
              <a:t>Sebaliknya, bulan-bulan konsolidasi 2022–2023 menunjukkan titik di tengah (harga $20K–$30K, volume $15–$30 miliar), menggambarkan reaksi pasar yang lebih tenang setelah koreksi.</a:t>
            </a:r>
          </a:p>
          <a:p>
            <a:pPr algn="ctr">
              <a:lnSpc>
                <a:spcPts val="2457"/>
              </a:lnSpc>
            </a:pPr>
          </a:p>
        </p:txBody>
      </p:sp>
      <p:sp>
        <p:nvSpPr>
          <p:cNvPr name="TextBox 11" id="11"/>
          <p:cNvSpPr txBox="true"/>
          <p:nvPr/>
        </p:nvSpPr>
        <p:spPr>
          <a:xfrm rot="0">
            <a:off x="334110" y="6168782"/>
            <a:ext cx="6244336" cy="3253274"/>
          </a:xfrm>
          <a:prstGeom prst="rect">
            <a:avLst/>
          </a:prstGeom>
        </p:spPr>
        <p:txBody>
          <a:bodyPr anchor="t" rtlCol="false" tIns="0" lIns="0" bIns="0" rIns="0">
            <a:spAutoFit/>
          </a:bodyPr>
          <a:lstStyle/>
          <a:p>
            <a:pPr algn="ctr">
              <a:lnSpc>
                <a:spcPts val="2860"/>
              </a:lnSpc>
            </a:pPr>
            <a:r>
              <a:rPr lang="en-US" sz="2043" b="true">
                <a:solidFill>
                  <a:srgbClr val="FFFFFF"/>
                </a:solidFill>
                <a:latin typeface="Open Sans Bold"/>
                <a:ea typeface="Open Sans Bold"/>
                <a:cs typeface="Open Sans Bold"/>
                <a:sym typeface="Open Sans Bold"/>
              </a:rPr>
              <a:t>Variasi Antar </a:t>
            </a:r>
            <a:r>
              <a:rPr lang="en-US" b="true" sz="2043">
                <a:solidFill>
                  <a:srgbClr val="FFFFFF"/>
                </a:solidFill>
                <a:latin typeface="Open Sans Bold"/>
                <a:ea typeface="Open Sans Bold"/>
                <a:cs typeface="Open Sans Bold"/>
                <a:sym typeface="Open Sans Bold"/>
              </a:rPr>
              <a:t>Tahun:</a:t>
            </a:r>
          </a:p>
          <a:p>
            <a:pPr algn="ctr" marL="441157" indent="-220578" lvl="1">
              <a:lnSpc>
                <a:spcPts val="2860"/>
              </a:lnSpc>
              <a:buFont typeface="Arial"/>
              <a:buChar char="•"/>
            </a:pPr>
            <a:r>
              <a:rPr lang="en-US" b="true" sz="2043">
                <a:solidFill>
                  <a:srgbClr val="FFFFFF"/>
                </a:solidFill>
                <a:latin typeface="Open Sans Bold"/>
                <a:ea typeface="Open Sans Bold"/>
                <a:cs typeface="Open Sans Bold"/>
                <a:sym typeface="Open Sans Bold"/>
              </a:rPr>
              <a:t>Titik-titik tahun 2019–2020 (warna lebih terang) berada di area kiri bawah, menegaskan fase awal dengan harga dan volume yang relatif rendah.</a:t>
            </a:r>
          </a:p>
          <a:p>
            <a:pPr algn="ctr" marL="441157" indent="-220578" lvl="1">
              <a:lnSpc>
                <a:spcPts val="2860"/>
              </a:lnSpc>
              <a:buFont typeface="Arial"/>
              <a:buChar char="•"/>
            </a:pPr>
            <a:r>
              <a:rPr lang="en-US" b="true" sz="2043">
                <a:solidFill>
                  <a:srgbClr val="FFFFFF"/>
                </a:solidFill>
                <a:latin typeface="Open Sans Bold"/>
                <a:ea typeface="Open Sans Bold"/>
                <a:cs typeface="Open Sans Bold"/>
                <a:sym typeface="Open Sans Bold"/>
              </a:rPr>
              <a:t>Tren menunjukkan perpindahan titik secara gradual ke kanan atas seiring pasar tumbuh dan likuiditas meningkat.</a:t>
            </a:r>
          </a:p>
          <a:p>
            <a:pPr algn="ctr">
              <a:lnSpc>
                <a:spcPts val="2860"/>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33B5C"/>
        </a:solidFill>
      </p:bgPr>
    </p:bg>
    <p:spTree>
      <p:nvGrpSpPr>
        <p:cNvPr id="1" name=""/>
        <p:cNvGrpSpPr/>
        <p:nvPr/>
      </p:nvGrpSpPr>
      <p:grpSpPr>
        <a:xfrm>
          <a:off x="0" y="0"/>
          <a:ext cx="0" cy="0"/>
          <a:chOff x="0" y="0"/>
          <a:chExt cx="0" cy="0"/>
        </a:xfrm>
      </p:grpSpPr>
      <p:sp>
        <p:nvSpPr>
          <p:cNvPr name="Freeform 2" id="2"/>
          <p:cNvSpPr/>
          <p:nvPr/>
        </p:nvSpPr>
        <p:spPr>
          <a:xfrm flipH="false" flipV="false" rot="-5224143">
            <a:off x="3708813" y="-7569265"/>
            <a:ext cx="10232519" cy="19339812"/>
          </a:xfrm>
          <a:custGeom>
            <a:avLst/>
            <a:gdLst/>
            <a:ahLst/>
            <a:cxnLst/>
            <a:rect r="r" b="b" t="t" l="l"/>
            <a:pathLst>
              <a:path h="19339812" w="10232519">
                <a:moveTo>
                  <a:pt x="0" y="0"/>
                </a:moveTo>
                <a:lnTo>
                  <a:pt x="10232518" y="0"/>
                </a:lnTo>
                <a:lnTo>
                  <a:pt x="10232518" y="19339812"/>
                </a:lnTo>
                <a:lnTo>
                  <a:pt x="0" y="19339812"/>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76423" y="3345966"/>
            <a:ext cx="18440845" cy="11470895"/>
            <a:chOff x="0" y="0"/>
            <a:chExt cx="4856848" cy="3021141"/>
          </a:xfrm>
        </p:grpSpPr>
        <p:sp>
          <p:nvSpPr>
            <p:cNvPr name="Freeform 4" id="4"/>
            <p:cNvSpPr/>
            <p:nvPr/>
          </p:nvSpPr>
          <p:spPr>
            <a:xfrm flipH="false" flipV="false" rot="0">
              <a:off x="0" y="0"/>
              <a:ext cx="4856848" cy="3021141"/>
            </a:xfrm>
            <a:custGeom>
              <a:avLst/>
              <a:gdLst/>
              <a:ahLst/>
              <a:cxnLst/>
              <a:rect r="r" b="b" t="t" l="l"/>
              <a:pathLst>
                <a:path h="3021141" w="4856848">
                  <a:moveTo>
                    <a:pt x="0" y="0"/>
                  </a:moveTo>
                  <a:lnTo>
                    <a:pt x="4856848" y="0"/>
                  </a:lnTo>
                  <a:lnTo>
                    <a:pt x="4856848" y="3021141"/>
                  </a:lnTo>
                  <a:lnTo>
                    <a:pt x="0" y="3021141"/>
                  </a:lnTo>
                  <a:close/>
                </a:path>
              </a:pathLst>
            </a:custGeom>
            <a:solidFill>
              <a:srgbClr val="337B92"/>
            </a:solidFill>
            <a:ln cap="sq">
              <a:noFill/>
              <a:prstDash val="solid"/>
              <a:miter/>
            </a:ln>
          </p:spPr>
        </p:sp>
        <p:sp>
          <p:nvSpPr>
            <p:cNvPr name="TextBox 5" id="5"/>
            <p:cNvSpPr txBox="true"/>
            <p:nvPr/>
          </p:nvSpPr>
          <p:spPr>
            <a:xfrm>
              <a:off x="0" y="-38100"/>
              <a:ext cx="4856848" cy="3059241"/>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351900" y="2405563"/>
            <a:ext cx="12173354" cy="2737937"/>
            <a:chOff x="0" y="0"/>
            <a:chExt cx="3455296" cy="777139"/>
          </a:xfrm>
        </p:grpSpPr>
        <p:sp>
          <p:nvSpPr>
            <p:cNvPr name="Freeform 7" id="7"/>
            <p:cNvSpPr/>
            <p:nvPr/>
          </p:nvSpPr>
          <p:spPr>
            <a:xfrm flipH="false" flipV="false" rot="0">
              <a:off x="0" y="0"/>
              <a:ext cx="3455296" cy="777139"/>
            </a:xfrm>
            <a:custGeom>
              <a:avLst/>
              <a:gdLst/>
              <a:ahLst/>
              <a:cxnLst/>
              <a:rect r="r" b="b" t="t" l="l"/>
              <a:pathLst>
                <a:path h="777139" w="3455296">
                  <a:moveTo>
                    <a:pt x="0" y="0"/>
                  </a:moveTo>
                  <a:lnTo>
                    <a:pt x="3455296" y="0"/>
                  </a:lnTo>
                  <a:lnTo>
                    <a:pt x="3455296" y="777139"/>
                  </a:lnTo>
                  <a:lnTo>
                    <a:pt x="0" y="777139"/>
                  </a:lnTo>
                  <a:close/>
                </a:path>
              </a:pathLst>
            </a:custGeom>
            <a:blipFill>
              <a:blip r:embed="rId4"/>
              <a:stretch>
                <a:fillRect l="0" t="-1302" r="0" b="-1302"/>
              </a:stretch>
            </a:blipFill>
          </p:spPr>
        </p:sp>
      </p:grpSp>
      <p:sp>
        <p:nvSpPr>
          <p:cNvPr name="Freeform 8" id="8"/>
          <p:cNvSpPr/>
          <p:nvPr/>
        </p:nvSpPr>
        <p:spPr>
          <a:xfrm flipH="false" flipV="false" rot="0">
            <a:off x="13750671" y="2945924"/>
            <a:ext cx="3083732" cy="3426369"/>
          </a:xfrm>
          <a:custGeom>
            <a:avLst/>
            <a:gdLst/>
            <a:ahLst/>
            <a:cxnLst/>
            <a:rect r="r" b="b" t="t" l="l"/>
            <a:pathLst>
              <a:path h="3426369" w="3083732">
                <a:moveTo>
                  <a:pt x="0" y="0"/>
                </a:moveTo>
                <a:lnTo>
                  <a:pt x="3083731" y="0"/>
                </a:lnTo>
                <a:lnTo>
                  <a:pt x="3083731" y="3426369"/>
                </a:lnTo>
                <a:lnTo>
                  <a:pt x="0" y="342636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9614716" y="648666"/>
            <a:ext cx="7928792" cy="1451975"/>
          </a:xfrm>
          <a:prstGeom prst="rect">
            <a:avLst/>
          </a:prstGeom>
        </p:spPr>
        <p:txBody>
          <a:bodyPr anchor="t" rtlCol="false" tIns="0" lIns="0" bIns="0" rIns="0">
            <a:spAutoFit/>
          </a:bodyPr>
          <a:lstStyle/>
          <a:p>
            <a:pPr algn="ctr">
              <a:lnSpc>
                <a:spcPts val="5837"/>
              </a:lnSpc>
            </a:pPr>
            <a:r>
              <a:rPr lang="en-US" sz="4169" b="true">
                <a:solidFill>
                  <a:srgbClr val="FFFFFF"/>
                </a:solidFill>
                <a:latin typeface="Open Sans Bold"/>
                <a:ea typeface="Open Sans Bold"/>
                <a:cs typeface="Open Sans Bold"/>
                <a:sym typeface="Open Sans Bold"/>
              </a:rPr>
              <a:t> Menelisi</a:t>
            </a:r>
            <a:r>
              <a:rPr lang="en-US" b="true" sz="4169">
                <a:solidFill>
                  <a:srgbClr val="FFFFFF"/>
                </a:solidFill>
                <a:latin typeface="Open Sans Bold"/>
                <a:ea typeface="Open Sans Bold"/>
                <a:cs typeface="Open Sans Bold"/>
                <a:sym typeface="Open Sans Bold"/>
              </a:rPr>
              <a:t>k 10 Bulan dengan Volume Transaksi Terbesar</a:t>
            </a:r>
          </a:p>
        </p:txBody>
      </p:sp>
      <p:sp>
        <p:nvSpPr>
          <p:cNvPr name="TextBox 10" id="10"/>
          <p:cNvSpPr txBox="true"/>
          <p:nvPr/>
        </p:nvSpPr>
        <p:spPr>
          <a:xfrm rot="0">
            <a:off x="396494" y="5301078"/>
            <a:ext cx="8062275" cy="2113855"/>
          </a:xfrm>
          <a:prstGeom prst="rect">
            <a:avLst/>
          </a:prstGeom>
        </p:spPr>
        <p:txBody>
          <a:bodyPr anchor="t" rtlCol="false" tIns="0" lIns="0" bIns="0" rIns="0">
            <a:spAutoFit/>
          </a:bodyPr>
          <a:lstStyle/>
          <a:p>
            <a:pPr algn="ctr">
              <a:lnSpc>
                <a:spcPts val="2412"/>
              </a:lnSpc>
            </a:pPr>
            <a:r>
              <a:rPr lang="en-US" sz="1723" b="true">
                <a:solidFill>
                  <a:srgbClr val="FFFFFF"/>
                </a:solidFill>
                <a:latin typeface="Open Sans Bold"/>
                <a:ea typeface="Open Sans Bold"/>
                <a:cs typeface="Open Sans Bold"/>
                <a:sym typeface="Open Sans Bold"/>
              </a:rPr>
              <a:t>"Slide ini menampilkan lanskap aktivitas perdagangan Bitcoin yang paling intens selama periode waktu yang kita </a:t>
            </a:r>
            <a:r>
              <a:rPr lang="en-US" b="true" sz="1723">
                <a:solidFill>
                  <a:srgbClr val="FFFFFF"/>
                </a:solidFill>
                <a:latin typeface="Open Sans Bold"/>
                <a:ea typeface="Open Sans Bold"/>
                <a:cs typeface="Open Sans Bold"/>
                <a:sym typeface="Open Sans Bold"/>
              </a:rPr>
              <a:t>analisis. Alih-alih melihat tren secara keseluruhan, kita kini mempersempit fokus untuk mengidentifikasi 10 bulan di mana volume transaksi mencapai titik tertinggi. Visualisasi batang horizontal ini bagaikan panggung utama, menyoroti periode-periode krusial di mana minat dan partisipasi pasar melonjak secara signifikan.</a:t>
            </a:r>
          </a:p>
        </p:txBody>
      </p:sp>
      <p:sp>
        <p:nvSpPr>
          <p:cNvPr name="TextBox 11" id="11"/>
          <p:cNvSpPr txBox="true"/>
          <p:nvPr/>
        </p:nvSpPr>
        <p:spPr>
          <a:xfrm rot="0">
            <a:off x="684313" y="7562986"/>
            <a:ext cx="7486636" cy="2338820"/>
          </a:xfrm>
          <a:prstGeom prst="rect">
            <a:avLst/>
          </a:prstGeom>
        </p:spPr>
        <p:txBody>
          <a:bodyPr anchor="t" rtlCol="false" tIns="0" lIns="0" bIns="0" rIns="0">
            <a:spAutoFit/>
          </a:bodyPr>
          <a:lstStyle/>
          <a:p>
            <a:pPr algn="ctr">
              <a:lnSpc>
                <a:spcPts val="2323"/>
              </a:lnSpc>
            </a:pPr>
            <a:r>
              <a:rPr lang="en-US" sz="1659" b="true">
                <a:solidFill>
                  <a:srgbClr val="FFFFFF"/>
                </a:solidFill>
                <a:latin typeface="Open Sans Bold"/>
                <a:ea typeface="Open Sans Bold"/>
                <a:cs typeface="Open Sans Bold"/>
                <a:sym typeface="Open Sans Bold"/>
              </a:rPr>
              <a:t>Perhatikan bagaimana beberapa bulan mendominasi grafik ini, menjulang tinggi di atas yang l</a:t>
            </a:r>
            <a:r>
              <a:rPr lang="en-US" b="true" sz="1659">
                <a:solidFill>
                  <a:srgbClr val="FFFFFF"/>
                </a:solidFill>
                <a:latin typeface="Open Sans Bold"/>
                <a:ea typeface="Open Sans Bold"/>
                <a:cs typeface="Open Sans Bold"/>
                <a:sym typeface="Open Sans Bold"/>
              </a:rPr>
              <a:t>ain. Kemungkinan besar, bulan-bulan dengan batang terpanjang ini bertepatan dengan momen-momen penting dalam sejarah harga Bitcoin, seperti bull run yang spektakuler, pengumuman regulasi yang signifikan, atau adopsi oleh pemain institusional besar. Volume perdagangan yang tinggi adalah indikator kuat dari sentimen pasar yang kuat, baik euforia maupun kepanikan, yang mendorong sejumlah besar transaksi.</a:t>
            </a:r>
          </a:p>
        </p:txBody>
      </p:sp>
      <p:sp>
        <p:nvSpPr>
          <p:cNvPr name="TextBox 12" id="12"/>
          <p:cNvSpPr txBox="true"/>
          <p:nvPr/>
        </p:nvSpPr>
        <p:spPr>
          <a:xfrm rot="0">
            <a:off x="8825072" y="6988270"/>
            <a:ext cx="6467465" cy="2093144"/>
          </a:xfrm>
          <a:prstGeom prst="rect">
            <a:avLst/>
          </a:prstGeom>
        </p:spPr>
        <p:txBody>
          <a:bodyPr anchor="t" rtlCol="false" tIns="0" lIns="0" bIns="0" rIns="0">
            <a:spAutoFit/>
          </a:bodyPr>
          <a:lstStyle/>
          <a:p>
            <a:pPr algn="ctr">
              <a:lnSpc>
                <a:spcPts val="2377"/>
              </a:lnSpc>
            </a:pPr>
            <a:r>
              <a:rPr lang="en-US" sz="1698" b="true">
                <a:solidFill>
                  <a:srgbClr val="FFFFFF"/>
                </a:solidFill>
                <a:latin typeface="Open Sans Bold"/>
                <a:ea typeface="Open Sans Bold"/>
                <a:cs typeface="Open Sans Bold"/>
                <a:sym typeface="Open Sans Bold"/>
              </a:rPr>
              <a:t>Setiap batang dalam gr</a:t>
            </a:r>
            <a:r>
              <a:rPr lang="en-US" b="true" sz="1698">
                <a:solidFill>
                  <a:srgbClr val="FFFFFF"/>
                </a:solidFill>
                <a:latin typeface="Open Sans Bold"/>
                <a:ea typeface="Open Sans Bold"/>
                <a:cs typeface="Open Sans Bold"/>
                <a:sym typeface="Open Sans Bold"/>
              </a:rPr>
              <a:t>afik ini mewakili 'gelombang' aktivitas perdagangan yang unik. Panjangnya secara langsung mencerminkan total nilai Bitcoin yang diperdagangkan selama bulan tersebut. Dengan memvisualisasikan 10 bulan teratas ini, kita mendapatkan perspektif yang lebih tajam tentang periode-periode di mana pasar Bitcoin benar-benar 'hidup' dan bergejolak.</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33B5C"/>
        </a:solidFill>
      </p:bgPr>
    </p:bg>
    <p:spTree>
      <p:nvGrpSpPr>
        <p:cNvPr id="1" name=""/>
        <p:cNvGrpSpPr/>
        <p:nvPr/>
      </p:nvGrpSpPr>
      <p:grpSpPr>
        <a:xfrm>
          <a:off x="0" y="0"/>
          <a:ext cx="0" cy="0"/>
          <a:chOff x="0" y="0"/>
          <a:chExt cx="0" cy="0"/>
        </a:xfrm>
      </p:grpSpPr>
      <p:sp>
        <p:nvSpPr>
          <p:cNvPr name="Freeform 2" id="2"/>
          <p:cNvSpPr/>
          <p:nvPr/>
        </p:nvSpPr>
        <p:spPr>
          <a:xfrm flipH="false" flipV="false" rot="-5714398">
            <a:off x="3708813" y="-1995692"/>
            <a:ext cx="10232519" cy="19339812"/>
          </a:xfrm>
          <a:custGeom>
            <a:avLst/>
            <a:gdLst/>
            <a:ahLst/>
            <a:cxnLst/>
            <a:rect r="r" b="b" t="t" l="l"/>
            <a:pathLst>
              <a:path h="19339812" w="10232519">
                <a:moveTo>
                  <a:pt x="0" y="0"/>
                </a:moveTo>
                <a:lnTo>
                  <a:pt x="10232518" y="0"/>
                </a:lnTo>
                <a:lnTo>
                  <a:pt x="10232518" y="19339812"/>
                </a:lnTo>
                <a:lnTo>
                  <a:pt x="0" y="19339812"/>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12431449" y="7845664"/>
            <a:ext cx="4827851" cy="1219876"/>
          </a:xfrm>
          <a:prstGeom prst="rect">
            <a:avLst/>
          </a:prstGeom>
        </p:spPr>
        <p:txBody>
          <a:bodyPr anchor="t" rtlCol="false" tIns="0" lIns="0" bIns="0" rIns="0">
            <a:spAutoFit/>
          </a:bodyPr>
          <a:lstStyle/>
          <a:p>
            <a:pPr algn="r" marL="0" indent="0" lvl="0">
              <a:lnSpc>
                <a:spcPts val="4511"/>
              </a:lnSpc>
              <a:spcBef>
                <a:spcPct val="0"/>
              </a:spcBef>
            </a:pPr>
            <a:r>
              <a:rPr lang="en-US" b="true" sz="5370" spc="-333">
                <a:solidFill>
                  <a:srgbClr val="FFFFFF"/>
                </a:solidFill>
                <a:latin typeface="Inter Bold"/>
                <a:ea typeface="Inter Bold"/>
                <a:cs typeface="Inter Bold"/>
                <a:sym typeface="Inter Bold"/>
              </a:rPr>
              <a:t>Thank You For Your Attention</a:t>
            </a:r>
          </a:p>
        </p:txBody>
      </p:sp>
      <p:grpSp>
        <p:nvGrpSpPr>
          <p:cNvPr name="Group 4" id="4"/>
          <p:cNvGrpSpPr/>
          <p:nvPr/>
        </p:nvGrpSpPr>
        <p:grpSpPr>
          <a:xfrm rot="0">
            <a:off x="-76423" y="-2894970"/>
            <a:ext cx="18440845" cy="7847340"/>
            <a:chOff x="0" y="0"/>
            <a:chExt cx="4856848" cy="2066789"/>
          </a:xfrm>
        </p:grpSpPr>
        <p:sp>
          <p:nvSpPr>
            <p:cNvPr name="Freeform 5" id="5"/>
            <p:cNvSpPr/>
            <p:nvPr/>
          </p:nvSpPr>
          <p:spPr>
            <a:xfrm flipH="false" flipV="false" rot="0">
              <a:off x="0" y="0"/>
              <a:ext cx="4856848" cy="2066789"/>
            </a:xfrm>
            <a:custGeom>
              <a:avLst/>
              <a:gdLst/>
              <a:ahLst/>
              <a:cxnLst/>
              <a:rect r="r" b="b" t="t" l="l"/>
              <a:pathLst>
                <a:path h="2066789" w="4856848">
                  <a:moveTo>
                    <a:pt x="0" y="0"/>
                  </a:moveTo>
                  <a:lnTo>
                    <a:pt x="4856848" y="0"/>
                  </a:lnTo>
                  <a:lnTo>
                    <a:pt x="4856848" y="2066789"/>
                  </a:lnTo>
                  <a:lnTo>
                    <a:pt x="0" y="2066789"/>
                  </a:lnTo>
                  <a:close/>
                </a:path>
              </a:pathLst>
            </a:custGeom>
            <a:solidFill>
              <a:srgbClr val="337B92"/>
            </a:solidFill>
            <a:ln cap="sq">
              <a:noFill/>
              <a:prstDash val="solid"/>
              <a:miter/>
            </a:ln>
          </p:spPr>
        </p:sp>
        <p:sp>
          <p:nvSpPr>
            <p:cNvPr name="TextBox 6" id="6"/>
            <p:cNvSpPr txBox="true"/>
            <p:nvPr/>
          </p:nvSpPr>
          <p:spPr>
            <a:xfrm>
              <a:off x="0" y="-38100"/>
              <a:ext cx="4856848" cy="2104889"/>
            </a:xfrm>
            <a:prstGeom prst="rect">
              <a:avLst/>
            </a:prstGeom>
          </p:spPr>
          <p:txBody>
            <a:bodyPr anchor="ctr" rtlCol="false" tIns="50800" lIns="50800" bIns="50800" rIns="50800"/>
            <a:lstStyle/>
            <a:p>
              <a:pPr algn="ctr">
                <a:lnSpc>
                  <a:spcPts val="2659"/>
                </a:lnSpc>
                <a:spcBef>
                  <a:spcPct val="0"/>
                </a:spcBef>
              </a:pPr>
            </a:p>
          </p:txBody>
        </p:sp>
      </p:grpSp>
      <p:sp>
        <p:nvSpPr>
          <p:cNvPr name="AutoShape 7" id="7"/>
          <p:cNvSpPr/>
          <p:nvPr/>
        </p:nvSpPr>
        <p:spPr>
          <a:xfrm>
            <a:off x="2542849" y="1677159"/>
            <a:ext cx="14244844" cy="0"/>
          </a:xfrm>
          <a:prstGeom prst="line">
            <a:avLst/>
          </a:prstGeom>
          <a:ln cap="flat" w="38100">
            <a:solidFill>
              <a:srgbClr val="FFFFFF"/>
            </a:solidFill>
            <a:prstDash val="solid"/>
            <a:headEnd type="none" len="sm" w="sm"/>
            <a:tailEnd type="none" len="sm" w="sm"/>
          </a:ln>
        </p:spPr>
      </p:sp>
      <p:sp>
        <p:nvSpPr>
          <p:cNvPr name="AutoShape 8" id="8"/>
          <p:cNvSpPr/>
          <p:nvPr/>
        </p:nvSpPr>
        <p:spPr>
          <a:xfrm>
            <a:off x="999498" y="9277350"/>
            <a:ext cx="16259802" cy="0"/>
          </a:xfrm>
          <a:prstGeom prst="line">
            <a:avLst/>
          </a:prstGeom>
          <a:ln cap="flat" w="38100">
            <a:solidFill>
              <a:srgbClr val="FFFFFF"/>
            </a:solidFill>
            <a:prstDash val="solid"/>
            <a:headEnd type="none" len="sm" w="sm"/>
            <a:tailEnd type="none" len="sm" w="sm"/>
          </a:ln>
        </p:spPr>
      </p:sp>
      <p:sp>
        <p:nvSpPr>
          <p:cNvPr name="TextBox 9" id="9"/>
          <p:cNvSpPr txBox="true"/>
          <p:nvPr/>
        </p:nvSpPr>
        <p:spPr>
          <a:xfrm rot="0">
            <a:off x="1912745" y="1907451"/>
            <a:ext cx="13320227" cy="4835478"/>
          </a:xfrm>
          <a:prstGeom prst="rect">
            <a:avLst/>
          </a:prstGeom>
        </p:spPr>
        <p:txBody>
          <a:bodyPr anchor="t" rtlCol="false" tIns="0" lIns="0" bIns="0" rIns="0">
            <a:spAutoFit/>
          </a:bodyPr>
          <a:lstStyle/>
          <a:p>
            <a:pPr algn="ctr">
              <a:lnSpc>
                <a:spcPts val="3852"/>
              </a:lnSpc>
            </a:pPr>
            <a:r>
              <a:rPr lang="en-US" sz="2751" b="true">
                <a:solidFill>
                  <a:srgbClr val="FFFFFF"/>
                </a:solidFill>
                <a:latin typeface="Open Sans Bold"/>
                <a:ea typeface="Open Sans Bold"/>
                <a:cs typeface="Open Sans Bold"/>
                <a:sym typeface="Open Sans Bold"/>
              </a:rPr>
              <a:t>Kesi</a:t>
            </a:r>
            <a:r>
              <a:rPr lang="en-US" sz="2751" b="true">
                <a:solidFill>
                  <a:srgbClr val="FFFFFF"/>
                </a:solidFill>
                <a:latin typeface="Open Sans Bold"/>
                <a:ea typeface="Open Sans Bold"/>
                <a:cs typeface="Open Sans Bold"/>
                <a:sym typeface="Open Sans Bold"/>
              </a:rPr>
              <a:t>mpulan</a:t>
            </a:r>
          </a:p>
          <a:p>
            <a:pPr algn="ctr">
              <a:lnSpc>
                <a:spcPts val="3852"/>
              </a:lnSpc>
            </a:pPr>
            <a:r>
              <a:rPr lang="en-US" sz="2751" b="true">
                <a:solidFill>
                  <a:srgbClr val="FFFFFF"/>
                </a:solidFill>
                <a:latin typeface="Open Sans Bold"/>
                <a:ea typeface="Open Sans Bold"/>
                <a:cs typeface="Open Sans Bold"/>
                <a:sym typeface="Open Sans Bold"/>
              </a:rPr>
              <a:t> Perjalanan Bitcoin selama lima tahun terakhir menunjukkan betapa dinamis dan menantangnya dunia</a:t>
            </a:r>
            <a:r>
              <a:rPr lang="en-US" sz="2751" b="true">
                <a:solidFill>
                  <a:srgbClr val="FFFFFF"/>
                </a:solidFill>
                <a:latin typeface="Open Sans Bold"/>
                <a:ea typeface="Open Sans Bold"/>
                <a:cs typeface="Open Sans Bold"/>
                <a:sym typeface="Open Sans Bold"/>
              </a:rPr>
              <a:t> </a:t>
            </a:r>
            <a:r>
              <a:rPr lang="en-US" b="true" sz="2751">
                <a:solidFill>
                  <a:srgbClr val="FFFFFF"/>
                </a:solidFill>
                <a:latin typeface="Open Sans Bold"/>
                <a:ea typeface="Open Sans Bold"/>
                <a:cs typeface="Open Sans Bold"/>
                <a:sym typeface="Open Sans Bold"/>
              </a:rPr>
              <a:t>as</a:t>
            </a:r>
            <a:r>
              <a:rPr lang="en-US" sz="2751" b="true">
                <a:solidFill>
                  <a:srgbClr val="FFFFFF"/>
                </a:solidFill>
                <a:latin typeface="Open Sans Bold"/>
                <a:ea typeface="Open Sans Bold"/>
                <a:cs typeface="Open Sans Bold"/>
                <a:sym typeface="Open Sans Bold"/>
              </a:rPr>
              <a:t>e</a:t>
            </a:r>
            <a:r>
              <a:rPr lang="en-US" b="true" sz="2751">
                <a:solidFill>
                  <a:srgbClr val="FFFFFF"/>
                </a:solidFill>
                <a:latin typeface="Open Sans Bold"/>
                <a:ea typeface="Open Sans Bold"/>
                <a:cs typeface="Open Sans Bold"/>
                <a:sym typeface="Open Sans Bold"/>
              </a:rPr>
              <a:t>t d</a:t>
            </a:r>
            <a:r>
              <a:rPr lang="en-US" sz="2751" b="true">
                <a:solidFill>
                  <a:srgbClr val="FFFFFF"/>
                </a:solidFill>
                <a:latin typeface="Open Sans Bold"/>
                <a:ea typeface="Open Sans Bold"/>
                <a:cs typeface="Open Sans Bold"/>
                <a:sym typeface="Open Sans Bold"/>
              </a:rPr>
              <a:t>i</a:t>
            </a:r>
            <a:r>
              <a:rPr lang="en-US" b="true" sz="2751">
                <a:solidFill>
                  <a:srgbClr val="FFFFFF"/>
                </a:solidFill>
                <a:latin typeface="Open Sans Bold"/>
                <a:ea typeface="Open Sans Bold"/>
                <a:cs typeface="Open Sans Bold"/>
                <a:sym typeface="Open Sans Bold"/>
              </a:rPr>
              <a:t>gi</a:t>
            </a:r>
            <a:r>
              <a:rPr lang="en-US" sz="2751" b="true">
                <a:solidFill>
                  <a:srgbClr val="FFFFFF"/>
                </a:solidFill>
                <a:latin typeface="Open Sans Bold"/>
                <a:ea typeface="Open Sans Bold"/>
                <a:cs typeface="Open Sans Bold"/>
                <a:sym typeface="Open Sans Bold"/>
              </a:rPr>
              <a:t>t</a:t>
            </a:r>
            <a:r>
              <a:rPr lang="en-US" b="true" sz="2751">
                <a:solidFill>
                  <a:srgbClr val="FFFFFF"/>
                </a:solidFill>
                <a:latin typeface="Open Sans Bold"/>
                <a:ea typeface="Open Sans Bold"/>
                <a:cs typeface="Open Sans Bold"/>
                <a:sym typeface="Open Sans Bold"/>
              </a:rPr>
              <a:t>al.</a:t>
            </a:r>
          </a:p>
          <a:p>
            <a:pPr algn="ctr">
              <a:lnSpc>
                <a:spcPts val="3852"/>
              </a:lnSpc>
            </a:pPr>
            <a:r>
              <a:rPr lang="en-US" sz="2751" b="true">
                <a:solidFill>
                  <a:srgbClr val="FFFFFF"/>
                </a:solidFill>
                <a:latin typeface="Open Sans Bold"/>
                <a:ea typeface="Open Sans Bold"/>
                <a:cs typeface="Open Sans Bold"/>
                <a:sym typeface="Open Sans Bold"/>
              </a:rPr>
              <a:t> </a:t>
            </a:r>
            <a:r>
              <a:rPr lang="en-US" b="true" sz="2751">
                <a:solidFill>
                  <a:srgbClr val="FFFFFF"/>
                </a:solidFill>
                <a:latin typeface="Open Sans Bold"/>
                <a:ea typeface="Open Sans Bold"/>
                <a:cs typeface="Open Sans Bold"/>
                <a:sym typeface="Open Sans Bold"/>
              </a:rPr>
              <a:t>S</a:t>
            </a:r>
            <a:r>
              <a:rPr lang="en-US" sz="2751" b="true">
                <a:solidFill>
                  <a:srgbClr val="FFFFFF"/>
                </a:solidFill>
                <a:latin typeface="Open Sans Bold"/>
                <a:ea typeface="Open Sans Bold"/>
                <a:cs typeface="Open Sans Bold"/>
                <a:sym typeface="Open Sans Bold"/>
              </a:rPr>
              <a:t>entimen global, adopsi institusional, regulasi</a:t>
            </a:r>
            <a:r>
              <a:rPr lang="en-US" b="true" sz="2751">
                <a:solidFill>
                  <a:srgbClr val="FFFFFF"/>
                </a:solidFill>
                <a:latin typeface="Open Sans Bold"/>
                <a:ea typeface="Open Sans Bold"/>
                <a:cs typeface="Open Sans Bold"/>
                <a:sym typeface="Open Sans Bold"/>
              </a:rPr>
              <a:t>,</a:t>
            </a:r>
            <a:r>
              <a:rPr lang="en-US" sz="2751" b="true">
                <a:solidFill>
                  <a:srgbClr val="FFFFFF"/>
                </a:solidFill>
                <a:latin typeface="Open Sans Bold"/>
                <a:ea typeface="Open Sans Bold"/>
                <a:cs typeface="Open Sans Bold"/>
                <a:sym typeface="Open Sans Bold"/>
              </a:rPr>
              <a:t> </a:t>
            </a:r>
            <a:r>
              <a:rPr lang="en-US" b="true" sz="2751">
                <a:solidFill>
                  <a:srgbClr val="FFFFFF"/>
                </a:solidFill>
                <a:latin typeface="Open Sans Bold"/>
                <a:ea typeface="Open Sans Bold"/>
                <a:cs typeface="Open Sans Bold"/>
                <a:sym typeface="Open Sans Bold"/>
              </a:rPr>
              <a:t>s</a:t>
            </a:r>
            <a:r>
              <a:rPr lang="en-US" sz="2751" b="true">
                <a:solidFill>
                  <a:srgbClr val="FFFFFF"/>
                </a:solidFill>
                <a:latin typeface="Open Sans Bold"/>
                <a:ea typeface="Open Sans Bold"/>
                <a:cs typeface="Open Sans Bold"/>
                <a:sym typeface="Open Sans Bold"/>
              </a:rPr>
              <a:t>erta inovasi blockchain</a:t>
            </a:r>
            <a:r>
              <a:rPr lang="en-US" b="true" sz="2751">
                <a:solidFill>
                  <a:srgbClr val="FFFFFF"/>
                </a:solidFill>
                <a:latin typeface="Open Sans Bold"/>
                <a:ea typeface="Open Sans Bold"/>
                <a:cs typeface="Open Sans Bold"/>
                <a:sym typeface="Open Sans Bold"/>
              </a:rPr>
              <a:t> m</a:t>
            </a:r>
            <a:r>
              <a:rPr lang="en-US" sz="2751" b="true">
                <a:solidFill>
                  <a:srgbClr val="FFFFFF"/>
                </a:solidFill>
                <a:latin typeface="Open Sans Bold"/>
                <a:ea typeface="Open Sans Bold"/>
                <a:cs typeface="Open Sans Bold"/>
                <a:sym typeface="Open Sans Bold"/>
              </a:rPr>
              <a:t>en</a:t>
            </a:r>
            <a:r>
              <a:rPr lang="en-US" b="true" sz="2751">
                <a:solidFill>
                  <a:srgbClr val="FFFFFF"/>
                </a:solidFill>
                <a:latin typeface="Open Sans Bold"/>
                <a:ea typeface="Open Sans Bold"/>
                <a:cs typeface="Open Sans Bold"/>
                <a:sym typeface="Open Sans Bold"/>
              </a:rPr>
              <a:t>j</a:t>
            </a:r>
            <a:r>
              <a:rPr lang="en-US" sz="2751" b="true">
                <a:solidFill>
                  <a:srgbClr val="FFFFFF"/>
                </a:solidFill>
                <a:latin typeface="Open Sans Bold"/>
                <a:ea typeface="Open Sans Bold"/>
                <a:cs typeface="Open Sans Bold"/>
                <a:sym typeface="Open Sans Bold"/>
              </a:rPr>
              <a:t>ad</a:t>
            </a:r>
            <a:r>
              <a:rPr lang="en-US" b="true" sz="2751">
                <a:solidFill>
                  <a:srgbClr val="FFFFFF"/>
                </a:solidFill>
                <a:latin typeface="Open Sans Bold"/>
                <a:ea typeface="Open Sans Bold"/>
                <a:cs typeface="Open Sans Bold"/>
                <a:sym typeface="Open Sans Bold"/>
              </a:rPr>
              <a:t>i</a:t>
            </a:r>
            <a:r>
              <a:rPr lang="en-US" sz="2751" b="true">
                <a:solidFill>
                  <a:srgbClr val="FFFFFF"/>
                </a:solidFill>
                <a:latin typeface="Open Sans Bold"/>
                <a:ea typeface="Open Sans Bold"/>
                <a:cs typeface="Open Sans Bold"/>
                <a:sym typeface="Open Sans Bold"/>
              </a:rPr>
              <a:t> e</a:t>
            </a:r>
            <a:r>
              <a:rPr lang="en-US" b="true" sz="2751">
                <a:solidFill>
                  <a:srgbClr val="FFFFFF"/>
                </a:solidFill>
                <a:latin typeface="Open Sans Bold"/>
                <a:ea typeface="Open Sans Bold"/>
                <a:cs typeface="Open Sans Bold"/>
                <a:sym typeface="Open Sans Bold"/>
              </a:rPr>
              <a:t>l</a:t>
            </a:r>
            <a:r>
              <a:rPr lang="en-US" sz="2751" b="true">
                <a:solidFill>
                  <a:srgbClr val="FFFFFF"/>
                </a:solidFill>
                <a:latin typeface="Open Sans Bold"/>
                <a:ea typeface="Open Sans Bold"/>
                <a:cs typeface="Open Sans Bold"/>
                <a:sym typeface="Open Sans Bold"/>
              </a:rPr>
              <a:t>e</a:t>
            </a:r>
            <a:r>
              <a:rPr lang="en-US" b="true" sz="2751">
                <a:solidFill>
                  <a:srgbClr val="FFFFFF"/>
                </a:solidFill>
                <a:latin typeface="Open Sans Bold"/>
                <a:ea typeface="Open Sans Bold"/>
                <a:cs typeface="Open Sans Bold"/>
                <a:sym typeface="Open Sans Bold"/>
              </a:rPr>
              <a:t>m</a:t>
            </a:r>
            <a:r>
              <a:rPr lang="en-US" sz="2751" b="true">
                <a:solidFill>
                  <a:srgbClr val="FFFFFF"/>
                </a:solidFill>
                <a:latin typeface="Open Sans Bold"/>
                <a:ea typeface="Open Sans Bold"/>
                <a:cs typeface="Open Sans Bold"/>
                <a:sym typeface="Open Sans Bold"/>
              </a:rPr>
              <a:t>en</a:t>
            </a:r>
            <a:r>
              <a:rPr lang="en-US" b="true" sz="2751">
                <a:solidFill>
                  <a:srgbClr val="FFFFFF"/>
                </a:solidFill>
                <a:latin typeface="Open Sans Bold"/>
                <a:ea typeface="Open Sans Bold"/>
                <a:cs typeface="Open Sans Bold"/>
                <a:sym typeface="Open Sans Bold"/>
              </a:rPr>
              <a:t> k</a:t>
            </a:r>
            <a:r>
              <a:rPr lang="en-US" sz="2751" b="true">
                <a:solidFill>
                  <a:srgbClr val="FFFFFF"/>
                </a:solidFill>
                <a:latin typeface="Open Sans Bold"/>
                <a:ea typeface="Open Sans Bold"/>
                <a:cs typeface="Open Sans Bold"/>
                <a:sym typeface="Open Sans Bold"/>
              </a:rPr>
              <a:t>un</a:t>
            </a:r>
            <a:r>
              <a:rPr lang="en-US" b="true" sz="2751">
                <a:solidFill>
                  <a:srgbClr val="FFFFFF"/>
                </a:solidFill>
                <a:latin typeface="Open Sans Bold"/>
                <a:ea typeface="Open Sans Bold"/>
                <a:cs typeface="Open Sans Bold"/>
                <a:sym typeface="Open Sans Bold"/>
              </a:rPr>
              <a:t>ci y</a:t>
            </a:r>
            <a:r>
              <a:rPr lang="en-US" sz="2751" b="true">
                <a:solidFill>
                  <a:srgbClr val="FFFFFF"/>
                </a:solidFill>
                <a:latin typeface="Open Sans Bold"/>
                <a:ea typeface="Open Sans Bold"/>
                <a:cs typeface="Open Sans Bold"/>
                <a:sym typeface="Open Sans Bold"/>
              </a:rPr>
              <a:t>an</a:t>
            </a:r>
            <a:r>
              <a:rPr lang="en-US" b="true" sz="2751">
                <a:solidFill>
                  <a:srgbClr val="FFFFFF"/>
                </a:solidFill>
                <a:latin typeface="Open Sans Bold"/>
                <a:ea typeface="Open Sans Bold"/>
                <a:cs typeface="Open Sans Bold"/>
                <a:sym typeface="Open Sans Bold"/>
              </a:rPr>
              <a:t>g</a:t>
            </a:r>
            <a:r>
              <a:rPr lang="en-US" sz="2751" b="true">
                <a:solidFill>
                  <a:srgbClr val="FFFFFF"/>
                </a:solidFill>
                <a:latin typeface="Open Sans Bold"/>
                <a:ea typeface="Open Sans Bold"/>
                <a:cs typeface="Open Sans Bold"/>
                <a:sym typeface="Open Sans Bold"/>
              </a:rPr>
              <a:t> </a:t>
            </a:r>
            <a:r>
              <a:rPr lang="en-US" b="true" sz="2751">
                <a:solidFill>
                  <a:srgbClr val="FFFFFF"/>
                </a:solidFill>
                <a:latin typeface="Open Sans Bold"/>
                <a:ea typeface="Open Sans Bold"/>
                <a:cs typeface="Open Sans Bold"/>
                <a:sym typeface="Open Sans Bold"/>
              </a:rPr>
              <a:t>memben</a:t>
            </a:r>
            <a:r>
              <a:rPr lang="en-US" sz="2751" b="true">
                <a:solidFill>
                  <a:srgbClr val="FFFFFF"/>
                </a:solidFill>
                <a:latin typeface="Open Sans Bold"/>
                <a:ea typeface="Open Sans Bold"/>
                <a:cs typeface="Open Sans Bold"/>
                <a:sym typeface="Open Sans Bold"/>
              </a:rPr>
              <a:t>t</a:t>
            </a:r>
            <a:r>
              <a:rPr lang="en-US" b="true" sz="2751">
                <a:solidFill>
                  <a:srgbClr val="FFFFFF"/>
                </a:solidFill>
                <a:latin typeface="Open Sans Bold"/>
                <a:ea typeface="Open Sans Bold"/>
                <a:cs typeface="Open Sans Bold"/>
                <a:sym typeface="Open Sans Bold"/>
              </a:rPr>
              <a:t>uk perger</a:t>
            </a:r>
            <a:r>
              <a:rPr lang="en-US" sz="2751" b="true">
                <a:solidFill>
                  <a:srgbClr val="FFFFFF"/>
                </a:solidFill>
                <a:latin typeface="Open Sans Bold"/>
                <a:ea typeface="Open Sans Bold"/>
                <a:cs typeface="Open Sans Bold"/>
                <a:sym typeface="Open Sans Bold"/>
              </a:rPr>
              <a:t>a</a:t>
            </a:r>
            <a:r>
              <a:rPr lang="en-US" b="true" sz="2751">
                <a:solidFill>
                  <a:srgbClr val="FFFFFF"/>
                </a:solidFill>
                <a:latin typeface="Open Sans Bold"/>
                <a:ea typeface="Open Sans Bold"/>
                <a:cs typeface="Open Sans Bold"/>
                <a:sym typeface="Open Sans Bold"/>
              </a:rPr>
              <a:t>k</a:t>
            </a:r>
            <a:r>
              <a:rPr lang="en-US" sz="2751" b="true">
                <a:solidFill>
                  <a:srgbClr val="FFFFFF"/>
                </a:solidFill>
                <a:latin typeface="Open Sans Bold"/>
                <a:ea typeface="Open Sans Bold"/>
                <a:cs typeface="Open Sans Bold"/>
                <a:sym typeface="Open Sans Bold"/>
              </a:rPr>
              <a:t>a</a:t>
            </a:r>
            <a:r>
              <a:rPr lang="en-US" b="true" sz="2751">
                <a:solidFill>
                  <a:srgbClr val="FFFFFF"/>
                </a:solidFill>
                <a:latin typeface="Open Sans Bold"/>
                <a:ea typeface="Open Sans Bold"/>
                <a:cs typeface="Open Sans Bold"/>
                <a:sym typeface="Open Sans Bold"/>
              </a:rPr>
              <a:t>n</a:t>
            </a:r>
            <a:r>
              <a:rPr lang="en-US" sz="2751" b="true">
                <a:solidFill>
                  <a:srgbClr val="FFFFFF"/>
                </a:solidFill>
                <a:latin typeface="Open Sans Bold"/>
                <a:ea typeface="Open Sans Bold"/>
                <a:cs typeface="Open Sans Bold"/>
                <a:sym typeface="Open Sans Bold"/>
              </a:rPr>
              <a:t> </a:t>
            </a:r>
            <a:r>
              <a:rPr lang="en-US" b="true" sz="2751">
                <a:solidFill>
                  <a:srgbClr val="FFFFFF"/>
                </a:solidFill>
                <a:latin typeface="Open Sans Bold"/>
                <a:ea typeface="Open Sans Bold"/>
                <a:cs typeface="Open Sans Bold"/>
                <a:sym typeface="Open Sans Bold"/>
              </a:rPr>
              <a:t>h</a:t>
            </a:r>
            <a:r>
              <a:rPr lang="en-US" sz="2751" b="true">
                <a:solidFill>
                  <a:srgbClr val="FFFFFF"/>
                </a:solidFill>
                <a:latin typeface="Open Sans Bold"/>
                <a:ea typeface="Open Sans Bold"/>
                <a:cs typeface="Open Sans Bold"/>
                <a:sym typeface="Open Sans Bold"/>
              </a:rPr>
              <a:t>ar</a:t>
            </a:r>
            <a:r>
              <a:rPr lang="en-US" b="true" sz="2751">
                <a:solidFill>
                  <a:srgbClr val="FFFFFF"/>
                </a:solidFill>
                <a:latin typeface="Open Sans Bold"/>
                <a:ea typeface="Open Sans Bold"/>
                <a:cs typeface="Open Sans Bold"/>
                <a:sym typeface="Open Sans Bold"/>
              </a:rPr>
              <a:t>g</a:t>
            </a:r>
            <a:r>
              <a:rPr lang="en-US" sz="2751" b="true">
                <a:solidFill>
                  <a:srgbClr val="FFFFFF"/>
                </a:solidFill>
                <a:latin typeface="Open Sans Bold"/>
                <a:ea typeface="Open Sans Bold"/>
                <a:cs typeface="Open Sans Bold"/>
                <a:sym typeface="Open Sans Bold"/>
              </a:rPr>
              <a:t>a</a:t>
            </a:r>
            <a:r>
              <a:rPr lang="en-US" b="true" sz="2751">
                <a:solidFill>
                  <a:srgbClr val="FFFFFF"/>
                </a:solidFill>
                <a:latin typeface="Open Sans Bold"/>
                <a:ea typeface="Open Sans Bold"/>
                <a:cs typeface="Open Sans Bold"/>
                <a:sym typeface="Open Sans Bold"/>
              </a:rPr>
              <a:t>nya.</a:t>
            </a:r>
          </a:p>
          <a:p>
            <a:pPr algn="ctr">
              <a:lnSpc>
                <a:spcPts val="3852"/>
              </a:lnSpc>
            </a:pPr>
            <a:r>
              <a:rPr lang="en-US" sz="2751" b="true">
                <a:solidFill>
                  <a:srgbClr val="FFFFFF"/>
                </a:solidFill>
                <a:latin typeface="Open Sans Bold"/>
                <a:ea typeface="Open Sans Bold"/>
                <a:cs typeface="Open Sans Bold"/>
                <a:sym typeface="Open Sans Bold"/>
              </a:rPr>
              <a:t> </a:t>
            </a:r>
            <a:r>
              <a:rPr lang="en-US" b="true" sz="2751">
                <a:solidFill>
                  <a:srgbClr val="FFFFFF"/>
                </a:solidFill>
                <a:latin typeface="Open Sans Bold"/>
                <a:ea typeface="Open Sans Bold"/>
                <a:cs typeface="Open Sans Bold"/>
                <a:sym typeface="Open Sans Bold"/>
              </a:rPr>
              <a:t>M</a:t>
            </a:r>
            <a:r>
              <a:rPr lang="en-US" sz="2751" b="true">
                <a:solidFill>
                  <a:srgbClr val="FFFFFF"/>
                </a:solidFill>
                <a:latin typeface="Open Sans Bold"/>
                <a:ea typeface="Open Sans Bold"/>
                <a:cs typeface="Open Sans Bold"/>
                <a:sym typeface="Open Sans Bold"/>
              </a:rPr>
              <a:t>es</a:t>
            </a:r>
            <a:r>
              <a:rPr lang="en-US" b="true" sz="2751">
                <a:solidFill>
                  <a:srgbClr val="FFFFFF"/>
                </a:solidFill>
                <a:latin typeface="Open Sans Bold"/>
                <a:ea typeface="Open Sans Bold"/>
                <a:cs typeface="Open Sans Bold"/>
                <a:sym typeface="Open Sans Bold"/>
              </a:rPr>
              <a:t>ki f</a:t>
            </a:r>
            <a:r>
              <a:rPr lang="en-US" sz="2751" b="true">
                <a:solidFill>
                  <a:srgbClr val="FFFFFF"/>
                </a:solidFill>
                <a:latin typeface="Open Sans Bold"/>
                <a:ea typeface="Open Sans Bold"/>
                <a:cs typeface="Open Sans Bold"/>
                <a:sym typeface="Open Sans Bold"/>
              </a:rPr>
              <a:t>lu</a:t>
            </a:r>
            <a:r>
              <a:rPr lang="en-US" b="true" sz="2751">
                <a:solidFill>
                  <a:srgbClr val="FFFFFF"/>
                </a:solidFill>
                <a:latin typeface="Open Sans Bold"/>
                <a:ea typeface="Open Sans Bold"/>
                <a:cs typeface="Open Sans Bold"/>
                <a:sym typeface="Open Sans Bold"/>
              </a:rPr>
              <a:t>ktuasi tajam tak te</a:t>
            </a:r>
            <a:r>
              <a:rPr lang="en-US" sz="2751" b="true">
                <a:solidFill>
                  <a:srgbClr val="FFFFFF"/>
                </a:solidFill>
                <a:latin typeface="Open Sans Bold"/>
                <a:ea typeface="Open Sans Bold"/>
                <a:cs typeface="Open Sans Bold"/>
                <a:sym typeface="Open Sans Bold"/>
              </a:rPr>
              <a:t>rh</a:t>
            </a:r>
            <a:r>
              <a:rPr lang="en-US" b="true" sz="2751">
                <a:solidFill>
                  <a:srgbClr val="FFFFFF"/>
                </a:solidFill>
                <a:latin typeface="Open Sans Bold"/>
                <a:ea typeface="Open Sans Bold"/>
                <a:cs typeface="Open Sans Bold"/>
                <a:sym typeface="Open Sans Bold"/>
              </a:rPr>
              <a:t>indark</a:t>
            </a:r>
            <a:r>
              <a:rPr lang="en-US" sz="2751" b="true">
                <a:solidFill>
                  <a:srgbClr val="FFFFFF"/>
                </a:solidFill>
                <a:latin typeface="Open Sans Bold"/>
                <a:ea typeface="Open Sans Bold"/>
                <a:cs typeface="Open Sans Bold"/>
                <a:sym typeface="Open Sans Bold"/>
              </a:rPr>
              <a:t>an</a:t>
            </a:r>
            <a:r>
              <a:rPr lang="en-US" b="true" sz="2751">
                <a:solidFill>
                  <a:srgbClr val="FFFFFF"/>
                </a:solidFill>
                <a:latin typeface="Open Sans Bold"/>
                <a:ea typeface="Open Sans Bold"/>
                <a:cs typeface="Open Sans Bold"/>
                <a:sym typeface="Open Sans Bold"/>
              </a:rPr>
              <a:t>,</a:t>
            </a:r>
            <a:r>
              <a:rPr lang="en-US" sz="2751" b="true">
                <a:solidFill>
                  <a:srgbClr val="FFFFFF"/>
                </a:solidFill>
                <a:latin typeface="Open Sans Bold"/>
                <a:ea typeface="Open Sans Bold"/>
                <a:cs typeface="Open Sans Bold"/>
                <a:sym typeface="Open Sans Bold"/>
              </a:rPr>
              <a:t> </a:t>
            </a:r>
            <a:r>
              <a:rPr lang="en-US" b="true" sz="2751">
                <a:solidFill>
                  <a:srgbClr val="FFFFFF"/>
                </a:solidFill>
                <a:latin typeface="Open Sans Bold"/>
                <a:ea typeface="Open Sans Bold"/>
                <a:cs typeface="Open Sans Bold"/>
                <a:sym typeface="Open Sans Bold"/>
              </a:rPr>
              <a:t>a</a:t>
            </a:r>
            <a:r>
              <a:rPr lang="en-US" sz="2751" b="true">
                <a:solidFill>
                  <a:srgbClr val="FFFFFF"/>
                </a:solidFill>
                <a:latin typeface="Open Sans Bold"/>
                <a:ea typeface="Open Sans Bold"/>
                <a:cs typeface="Open Sans Bold"/>
                <a:sym typeface="Open Sans Bold"/>
              </a:rPr>
              <a:t>r</a:t>
            </a:r>
            <a:r>
              <a:rPr lang="en-US" b="true" sz="2751">
                <a:solidFill>
                  <a:srgbClr val="FFFFFF"/>
                </a:solidFill>
                <a:latin typeface="Open Sans Bold"/>
                <a:ea typeface="Open Sans Bold"/>
                <a:cs typeface="Open Sans Bold"/>
                <a:sym typeface="Open Sans Bold"/>
              </a:rPr>
              <a:t>ah</a:t>
            </a:r>
            <a:r>
              <a:rPr lang="en-US" sz="2751" b="true">
                <a:solidFill>
                  <a:srgbClr val="FFFFFF"/>
                </a:solidFill>
                <a:latin typeface="Open Sans Bold"/>
                <a:ea typeface="Open Sans Bold"/>
                <a:cs typeface="Open Sans Bold"/>
                <a:sym typeface="Open Sans Bold"/>
              </a:rPr>
              <a:t> jangka panjang tetap men</a:t>
            </a:r>
            <a:r>
              <a:rPr lang="en-US" b="true" sz="2751">
                <a:solidFill>
                  <a:srgbClr val="FFFFFF"/>
                </a:solidFill>
                <a:latin typeface="Open Sans Bold"/>
                <a:ea typeface="Open Sans Bold"/>
                <a:cs typeface="Open Sans Bold"/>
                <a:sym typeface="Open Sans Bold"/>
              </a:rPr>
              <a:t>garah pad</a:t>
            </a:r>
            <a:r>
              <a:rPr lang="en-US" sz="2751" b="true">
                <a:solidFill>
                  <a:srgbClr val="FFFFFF"/>
                </a:solidFill>
                <a:latin typeface="Open Sans Bold"/>
                <a:ea typeface="Open Sans Bold"/>
                <a:cs typeface="Open Sans Bold"/>
                <a:sym typeface="Open Sans Bold"/>
              </a:rPr>
              <a:t>a pertumbuhan nilai.</a:t>
            </a:r>
          </a:p>
          <a:p>
            <a:pPr algn="ctr">
              <a:lnSpc>
                <a:spcPts val="3852"/>
              </a:lnSpc>
            </a:pPr>
            <a:r>
              <a:rPr lang="en-US" b="true" sz="2751">
                <a:solidFill>
                  <a:srgbClr val="FFFFFF"/>
                </a:solidFill>
                <a:latin typeface="Open Sans Bold"/>
                <a:ea typeface="Open Sans Bold"/>
                <a:cs typeface="Open Sans Bold"/>
                <a:sym typeface="Open Sans Bold"/>
              </a:rPr>
              <a:t> </a:t>
            </a:r>
            <a:r>
              <a:rPr lang="en-US" sz="2751" b="true">
                <a:solidFill>
                  <a:srgbClr val="FFFFFF"/>
                </a:solidFill>
                <a:latin typeface="Open Sans Bold"/>
                <a:ea typeface="Open Sans Bold"/>
                <a:cs typeface="Open Sans Bold"/>
                <a:sym typeface="Open Sans Bold"/>
              </a:rPr>
              <a:t>Pemahaman </a:t>
            </a:r>
            <a:r>
              <a:rPr lang="en-US" b="true" sz="2751">
                <a:solidFill>
                  <a:srgbClr val="FFFFFF"/>
                </a:solidFill>
                <a:latin typeface="Open Sans Bold"/>
                <a:ea typeface="Open Sans Bold"/>
                <a:cs typeface="Open Sans Bold"/>
                <a:sym typeface="Open Sans Bold"/>
              </a:rPr>
              <a:t>mendalam </a:t>
            </a:r>
            <a:r>
              <a:rPr lang="en-US" sz="2751" b="true">
                <a:solidFill>
                  <a:srgbClr val="FFFFFF"/>
                </a:solidFill>
                <a:latin typeface="Open Sans Bold"/>
                <a:ea typeface="Open Sans Bold"/>
                <a:cs typeface="Open Sans Bold"/>
                <a:sym typeface="Open Sans Bold"/>
              </a:rPr>
              <a:t>terhadap pola historis ini </a:t>
            </a:r>
            <a:r>
              <a:rPr lang="en-US" b="true" sz="2751">
                <a:solidFill>
                  <a:srgbClr val="FFFFFF"/>
                </a:solidFill>
                <a:latin typeface="Open Sans Bold"/>
                <a:ea typeface="Open Sans Bold"/>
                <a:cs typeface="Open Sans Bold"/>
                <a:sym typeface="Open Sans Bold"/>
              </a:rPr>
              <a:t>menjadi bekal </a:t>
            </a:r>
            <a:r>
              <a:rPr lang="en-US" sz="2751" b="true">
                <a:solidFill>
                  <a:srgbClr val="FFFFFF"/>
                </a:solidFill>
                <a:latin typeface="Open Sans Bold"/>
                <a:ea typeface="Open Sans Bold"/>
                <a:cs typeface="Open Sans Bold"/>
                <a:sym typeface="Open Sans Bold"/>
              </a:rPr>
              <a:t>penting untuk mengambil </a:t>
            </a:r>
            <a:r>
              <a:rPr lang="en-US" b="true" sz="2751">
                <a:solidFill>
                  <a:srgbClr val="FFFFFF"/>
                </a:solidFill>
                <a:latin typeface="Open Sans Bold"/>
                <a:ea typeface="Open Sans Bold"/>
                <a:cs typeface="Open Sans Bold"/>
                <a:sym typeface="Open Sans Bold"/>
              </a:rPr>
              <a:t>l</a:t>
            </a:r>
            <a:r>
              <a:rPr lang="en-US" sz="2751" b="true">
                <a:solidFill>
                  <a:srgbClr val="FFFFFF"/>
                </a:solidFill>
                <a:latin typeface="Open Sans Bold"/>
                <a:ea typeface="Open Sans Bold"/>
                <a:cs typeface="Open Sans Bold"/>
                <a:sym typeface="Open Sans Bold"/>
              </a:rPr>
              <a:t>an</a:t>
            </a:r>
            <a:r>
              <a:rPr lang="en-US" b="true" sz="2751">
                <a:solidFill>
                  <a:srgbClr val="FFFFFF"/>
                </a:solidFill>
                <a:latin typeface="Open Sans Bold"/>
                <a:ea typeface="Open Sans Bold"/>
                <a:cs typeface="Open Sans Bold"/>
                <a:sym typeface="Open Sans Bold"/>
              </a:rPr>
              <a:t>gkah</a:t>
            </a:r>
            <a:r>
              <a:rPr lang="en-US" sz="2751" b="true">
                <a:solidFill>
                  <a:srgbClr val="FFFFFF"/>
                </a:solidFill>
                <a:latin typeface="Open Sans Bold"/>
                <a:ea typeface="Open Sans Bold"/>
                <a:cs typeface="Open Sans Bold"/>
                <a:sym typeface="Open Sans Bold"/>
              </a:rPr>
              <a:t> investasi yang lebih </a:t>
            </a:r>
            <a:r>
              <a:rPr lang="en-US" b="true" sz="2751">
                <a:solidFill>
                  <a:srgbClr val="FFFFFF"/>
                </a:solidFill>
                <a:latin typeface="Open Sans Bold"/>
                <a:ea typeface="Open Sans Bold"/>
                <a:cs typeface="Open Sans Bold"/>
                <a:sym typeface="Open Sans Bold"/>
              </a:rPr>
              <a:t>mat</a:t>
            </a:r>
            <a:r>
              <a:rPr lang="en-US" sz="2751" b="true">
                <a:solidFill>
                  <a:srgbClr val="FFFFFF"/>
                </a:solidFill>
                <a:latin typeface="Open Sans Bold"/>
                <a:ea typeface="Open Sans Bold"/>
                <a:cs typeface="Open Sans Bold"/>
                <a:sym typeface="Open Sans Bold"/>
              </a:rPr>
              <a:t>a</a:t>
            </a:r>
            <a:r>
              <a:rPr lang="en-US" b="true" sz="2751">
                <a:solidFill>
                  <a:srgbClr val="FFFFFF"/>
                </a:solidFill>
                <a:latin typeface="Open Sans Bold"/>
                <a:ea typeface="Open Sans Bold"/>
                <a:cs typeface="Open Sans Bold"/>
                <a:sym typeface="Open Sans Bold"/>
              </a:rPr>
              <a:t>ng</a:t>
            </a:r>
            <a:r>
              <a:rPr lang="en-US" sz="2751" b="true">
                <a:solidFill>
                  <a:srgbClr val="FFFFFF"/>
                </a:solidFill>
                <a:latin typeface="Open Sans Bold"/>
                <a:ea typeface="Open Sans Bold"/>
                <a:cs typeface="Open Sans Bold"/>
                <a:sym typeface="Open Sans Bold"/>
              </a:rPr>
              <a:t> dan</a:t>
            </a:r>
            <a:r>
              <a:rPr lang="en-US" b="true" sz="2751">
                <a:solidFill>
                  <a:srgbClr val="FFFFFF"/>
                </a:solidFill>
                <a:latin typeface="Open Sans Bold"/>
                <a:ea typeface="Open Sans Bold"/>
                <a:cs typeface="Open Sans Bold"/>
                <a:sym typeface="Open Sans Bold"/>
              </a:rPr>
              <a:t> terukur</a:t>
            </a:r>
            <a:r>
              <a:rPr lang="en-US" sz="2751" b="true">
                <a:solidFill>
                  <a:srgbClr val="FFFFFF"/>
                </a:solidFill>
                <a:latin typeface="Open Sans Bold"/>
                <a:ea typeface="Open Sans Bold"/>
                <a:cs typeface="Open Sans Bold"/>
                <a:sym typeface="Open Sans Bold"/>
              </a:rPr>
              <a:t>.</a:t>
            </a:r>
          </a:p>
          <a:p>
            <a:pPr algn="ctr">
              <a:lnSpc>
                <a:spcPts val="3852"/>
              </a:lnSpc>
            </a:pPr>
            <a:r>
              <a:rPr lang="en-US" sz="2751" b="true">
                <a:solidFill>
                  <a:srgbClr val="FFFFFF"/>
                </a:solidFill>
                <a:latin typeface="Open Sans Bold"/>
                <a:ea typeface="Open Sans Bold"/>
                <a:cs typeface="Open Sans Bold"/>
                <a:sym typeface="Open Sans Bold"/>
              </a:rPr>
              <a:t>Terima kasih.</a:t>
            </a:r>
          </a:p>
        </p:txBody>
      </p:sp>
      <p:sp>
        <p:nvSpPr>
          <p:cNvPr name="Freeform 10" id="10"/>
          <p:cNvSpPr/>
          <p:nvPr/>
        </p:nvSpPr>
        <p:spPr>
          <a:xfrm flipH="false" flipV="false" rot="0">
            <a:off x="972679" y="6924241"/>
            <a:ext cx="1880133" cy="1760488"/>
          </a:xfrm>
          <a:custGeom>
            <a:avLst/>
            <a:gdLst/>
            <a:ahLst/>
            <a:cxnLst/>
            <a:rect r="r" b="b" t="t" l="l"/>
            <a:pathLst>
              <a:path h="1760488" w="1880133">
                <a:moveTo>
                  <a:pt x="0" y="0"/>
                </a:moveTo>
                <a:lnTo>
                  <a:pt x="1880133" y="0"/>
                </a:lnTo>
                <a:lnTo>
                  <a:pt x="1880133" y="1760488"/>
                </a:lnTo>
                <a:lnTo>
                  <a:pt x="0" y="17604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906289" y="513839"/>
            <a:ext cx="3893046"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Open Sans Bold"/>
                <a:ea typeface="Open Sans Bold"/>
                <a:cs typeface="Open Sans Bold"/>
                <a:sym typeface="Open Sans Bold"/>
              </a:rPr>
              <a:t>Kesimpulan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DAGlzBljTtU</dc:identifier>
  <dcterms:modified xsi:type="dcterms:W3CDTF">2011-08-01T06:04:30Z</dcterms:modified>
  <cp:revision>1</cp:revision>
  <dc:title>Dark Blue and Teal Modern Blockcain Presentation</dc:title>
</cp:coreProperties>
</file>